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4" r:id="rId10"/>
    <p:sldId id="275" r:id="rId11"/>
    <p:sldId id="263" r:id="rId12"/>
    <p:sldId id="264" r:id="rId13"/>
    <p:sldId id="278" r:id="rId14"/>
    <p:sldId id="279" r:id="rId15"/>
    <p:sldId id="265" r:id="rId16"/>
    <p:sldId id="276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2B26E-53E5-4EBA-8F0A-1EAF11DD4F0E}" type="datetimeFigureOut">
              <a:rPr lang="el-GR" smtClean="0"/>
              <a:t>7/10/2026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C0713-BEB2-4B4B-9C5E-AE66B1307B5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788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C0713-BEB2-4B4B-9C5E-AE66B1307B59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99185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C0713-BEB2-4B4B-9C5E-AE66B1307B59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58140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C0713-BEB2-4B4B-9C5E-AE66B1307B59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5583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C0713-BEB2-4B4B-9C5E-AE66B1307B59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13881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EA5B-2DFC-515F-D026-70A3A887B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4ADC7-6543-9A1B-DBE6-ED0AB2A35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493F1-3778-A5DE-BDE0-0E27E988D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2964E-2B04-849C-8C61-F2D206F28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C0713-BEB2-4B4B-9C5E-AE66B1307B59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33925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D2F37-86E1-0ADA-263E-245B85EF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167EA-1404-7F63-E53F-E64A8781C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E5099-2448-3E6C-82D8-CE7EC70AE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B8561-CFB6-6664-48E4-184B44C45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C0713-BEB2-4B4B-9C5E-AE66B1307B59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31099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C0713-BEB2-4B4B-9C5E-AE66B1307B59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15071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C0713-BEB2-4B4B-9C5E-AE66B1307B59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86659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037F-AAAF-3CF4-C4E7-AE258E483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FD997-F08D-E770-FF45-3B1CD0189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E7BEC-D868-8783-F693-02316750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872B7-0558-423B-BC38-649A5A840BCE}" type="datetime1">
              <a:rPr lang="el-GR" smtClean="0"/>
              <a:t>7/10/2026</a:t>
            </a:fld>
            <a:endParaRPr lang="el-G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B03BB-F24E-D289-6461-F4EF4036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lang="el-GR" sz="1200" kern="1200" dirty="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l-GR"/>
              <a:t>Δημήτριος Γώγος </a:t>
            </a:r>
            <a:endParaRPr lang="el-G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65ED3-8F40-2F27-C1A3-93F58316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8380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DFB7-03FD-B3EC-B56B-BD07A8A3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6ADC9-FEEC-7F0E-A3C9-8F0CDE18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26AA6-4179-97A7-ADE4-68E89A44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F6F3-EF7D-439F-88B6-0FCDF62018FC}" type="datetime1">
              <a:rPr lang="el-GR" smtClean="0"/>
              <a:t>7/10/2026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7BC31-F4FB-7C41-7966-19C1C5D3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E39F3-462E-03B5-8D9B-696B611D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667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F7C3-1F49-BB09-3265-CF84176D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3D30D-77FE-7F4E-E2C9-A01C1B2BC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3271E-0A3D-53D0-5978-CAE11EA46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E9A5-AB9E-4870-860E-6BF767285521}" type="datetime1">
              <a:rPr lang="el-GR" smtClean="0"/>
              <a:t>7/10/2026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49B99-ECEF-F4BF-C672-455DBE66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  <a:endParaRPr lang="el-G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2959E-4E00-623E-42BA-37363E24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3967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86C5-06BC-E927-3251-8DFB93A50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60B6-50AB-ADD8-B702-4A4C8589A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842E7-2BEE-55D9-F8BC-59E4A0C18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B5EAE-9554-48D3-D9D3-55C790C8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69EC-13EF-449D-87D2-58F3CAC60E86}" type="datetime1">
              <a:rPr lang="el-GR" smtClean="0"/>
              <a:t>7/10/2026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4F390-189D-F9AA-CEF3-D6F25A77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70A3A-3607-A7E6-47AE-D4801989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0780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FFD9-C1A2-3BED-250E-B17FB22BF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EA67F-6302-3692-5295-6DD19A32A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330C8-B9F6-6977-5AD5-3DCD864F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34890-55DE-42A0-605E-87D96A8AF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A08A8-299F-5023-87B7-3E374529F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4FF05-14D6-DC21-3922-DAA4134F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D8D3D-FD1D-43C7-94CB-FCC130973181}" type="datetime1">
              <a:rPr lang="el-GR" smtClean="0"/>
              <a:t>7/10/2026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2D40E-DF0D-D118-31CB-087C976E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748EB-571F-9C47-D8E9-F0A22178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6313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094E-C1F1-362A-E5BD-629A5044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DFA1B-E521-9E3F-C3D7-624EC601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DD8BE-3697-4729-BFFF-2C5F822B21E6}" type="datetime1">
              <a:rPr lang="el-GR" smtClean="0"/>
              <a:t>7/10/2026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D02DD-36DC-EE65-9040-5D0D60F2D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5FEE1-6249-215E-CCDF-271C22E6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5736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3A744A-8392-5759-2995-239D7536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59818-1B19-426F-BB23-5E8C51F810C8}" type="datetime1">
              <a:rPr lang="el-GR" smtClean="0"/>
              <a:t>7/10/2026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469FE-B6F6-F8D2-CB24-0E56EDB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64ED1-8004-6AF9-F627-CFAE901D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1460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348C-3847-DBD3-8103-592CC770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1A21B-93E6-3585-FAD0-4285A7C17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E462F-322E-57FD-6325-43DC751FA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FA9B4-4FD4-B920-731C-21815786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FF88A-B65E-412F-A606-9CAEC844DFD8}" type="datetime1">
              <a:rPr lang="el-GR" smtClean="0"/>
              <a:t>7/10/2026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5CF0C-DD93-7DF6-FE1D-CE998F24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3E410-B12B-5C37-DD78-A89F531F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9038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CCD7-6AFA-D7A1-D652-85CD8855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10035-6E2D-E229-E776-330E47B0C90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96210-163C-7133-DC39-F2B2348EC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2FE0F-8D14-BCA0-005C-AB4FC49E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6029D-8067-4D2B-890A-77E2D0464962}" type="datetime1">
              <a:rPr lang="el-GR" smtClean="0"/>
              <a:t>7/10/2026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23001-4328-DC65-E703-ABB4101F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DF75C-5632-516B-6B0A-36D1E4ED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280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9A6E-67C8-F67C-0CCF-8740153C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459A9-F708-F6E3-5D54-AA7EB4187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205D9-5B7A-83B3-845D-F1484658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F4865-60FA-4870-B731-59842D8CB6E0}" type="datetime1">
              <a:rPr lang="el-GR" smtClean="0"/>
              <a:t>7/10/2026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79B4C-D747-A142-B8CB-35BDF961E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9AC3D-CB80-220C-94DE-5CFADB83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2027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1C8B7-3A62-B580-79FF-877414A8F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336EA-73C1-DC7E-4D20-8C55B16F3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B3535-3DED-7054-7C24-6C2CC086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E775E-DE5A-4083-83DA-A481A7A5F864}" type="datetime1">
              <a:rPr lang="el-GR" smtClean="0"/>
              <a:t>7/10/2026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22379-1D16-8A05-3AD4-E85C2EE4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1967A-C6C5-E7E1-2C34-F7B3D2F9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2837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0EF95A-AC7F-A054-BDBB-78506EFB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C464F-6B11-40C9-A212-A4608DD36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74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l-G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1392-20A6-6432-F9DD-965D5A2F1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DDB86-560E-44BA-8926-867AFF7FEC5B}" type="datetime1">
              <a:rPr lang="el-GR" smtClean="0"/>
              <a:t>7/10/2026</a:t>
            </a:fld>
            <a:endParaRPr lang="el-G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37FDC-C1B8-5AFA-E796-761F84E51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6964"/>
            <a:ext cx="4114800" cy="544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l-GR"/>
              <a:t>Δημήτριος Γώγος </a:t>
            </a:r>
            <a:endParaRPr lang="el-G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64D25-D18A-AD2F-07CA-CDB32CAE8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7C9E3-788B-4E47-B1D3-1B3CE549EFA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3362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6;p13">
            <a:extLst>
              <a:ext uri="{FF2B5EF4-FFF2-40B4-BE49-F238E27FC236}">
                <a16:creationId xmlns:a16="http://schemas.microsoft.com/office/drawing/2014/main" id="{F826FA2E-994A-29D1-DD2F-33369EDC4151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4073288"/>
            <a:ext cx="2360739" cy="2783890"/>
          </a:xfrm>
          <a:prstGeom prst="rect">
            <a:avLst/>
          </a:prstGeom>
          <a:noFill/>
        </p:spPr>
      </p:pic>
      <p:pic>
        <p:nvPicPr>
          <p:cNvPr id="5" name="Google Shape;69;p13">
            <a:extLst>
              <a:ext uri="{FF2B5EF4-FFF2-40B4-BE49-F238E27FC236}">
                <a16:creationId xmlns:a16="http://schemas.microsoft.com/office/drawing/2014/main" id="{C92E2D16-AB9B-B7A5-D20C-69E096340CFF}"/>
              </a:ext>
            </a:extLst>
          </p:cNvPr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544853" y="5708475"/>
            <a:ext cx="2645834" cy="114952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B6C4E80-EDF9-B564-2536-F4F0A9E91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669998"/>
            <a:ext cx="9144000" cy="2387600"/>
          </a:xfrm>
        </p:spPr>
        <p:txBody>
          <a:bodyPr>
            <a:normAutofit/>
          </a:bodyPr>
          <a:lstStyle/>
          <a:p>
            <a:r>
              <a:rPr lang="el-GR" sz="2800" b="1" dirty="0">
                <a:ea typeface="Times New Roman" panose="02020603050405020304" pitchFamily="18" charset="0"/>
              </a:rPr>
              <a:t>Προσομοίωση μοντέλων βιοεμπέδησης κλασματικής τάξης</a:t>
            </a:r>
            <a:endParaRPr lang="el-GR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AD532-1147-73BC-2AB5-9554CC076B62}"/>
              </a:ext>
            </a:extLst>
          </p:cNvPr>
          <p:cNvSpPr txBox="1"/>
          <p:nvPr/>
        </p:nvSpPr>
        <p:spPr>
          <a:xfrm>
            <a:off x="3048000" y="1857052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2000" b="1" dirty="0"/>
              <a:t>Δημήτριος Γώγος</a:t>
            </a:r>
            <a:br>
              <a:rPr lang="en-US" sz="2000" b="1" dirty="0"/>
            </a:br>
            <a:br>
              <a:rPr lang="el-GR" sz="2000" b="1" dirty="0"/>
            </a:br>
            <a:r>
              <a:rPr lang="el-GR" sz="2000" b="1" dirty="0"/>
              <a:t>Διπλωματική Εργασία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l-GR" dirty="0"/>
              <a:t>Επιβλέπουσα: </a:t>
            </a:r>
            <a:r>
              <a:rPr lang="el-GR" dirty="0" err="1"/>
              <a:t>Επικ</a:t>
            </a:r>
            <a:r>
              <a:rPr lang="el-GR" dirty="0"/>
              <a:t>. Καθηγήτρια Γεωργία Τσιριμώκου</a:t>
            </a:r>
            <a:br>
              <a:rPr lang="el-GR" dirty="0"/>
            </a:br>
            <a:r>
              <a:rPr lang="el-GR" dirty="0"/>
              <a:t>Πανεπιστήμιο Ιωαννίνων</a:t>
            </a:r>
            <a:br>
              <a:rPr lang="el-GR" dirty="0"/>
            </a:br>
            <a:r>
              <a:rPr lang="el-GR" dirty="0"/>
              <a:t>Οκτώβριος 2026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3CE03F39-B5CB-6048-12E9-13194D77E2C3}"/>
              </a:ext>
            </a:extLst>
          </p:cNvPr>
          <p:cNvSpPr/>
          <p:nvPr/>
        </p:nvSpPr>
        <p:spPr>
          <a:xfrm>
            <a:off x="0" y="3979607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164588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32652-BE98-B7ED-36F2-E91F5514F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350221"/>
            <a:ext cx="3932237" cy="1600200"/>
          </a:xfrm>
        </p:spPr>
        <p:txBody>
          <a:bodyPr/>
          <a:lstStyle/>
          <a:p>
            <a:r>
              <a:rPr lang="el-GR" dirty="0"/>
              <a:t>Αντικείμενο και βασικός στόχος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6744F-D040-5369-CE3C-1D53B8D22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Μελέτη μοντέλων βιοεμπέδησης κλασματικής τάξης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Αντικατάσταση ιδανικών κλασματικών στοιχείων από υλοποιήσιμα κυκλώματα ακέραιης τάξης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Σύγκριση ακρίβειας και κυκλωματικής πολυπλοκότητας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Παθητική υλοποίηση με RC</a:t>
            </a:r>
            <a:r>
              <a:rPr lang="en-US" dirty="0"/>
              <a:t> </a:t>
            </a:r>
            <a:r>
              <a:rPr lang="el-GR" dirty="0"/>
              <a:t>δίκτυα και ενεργή υλοποίηση με OTA</a:t>
            </a:r>
            <a:r>
              <a:rPr lang="en-US" dirty="0"/>
              <a:t>-C</a:t>
            </a:r>
            <a:endParaRPr lang="el-G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2180B-3D41-5BDC-4629-6D258944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DE8B5-7633-DD13-0ADD-876FA1C8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2</a:t>
            </a:fld>
            <a:endParaRPr lang="el-GR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2E5DC8A1-C4A5-9BEA-92C0-ED5DF459FCB1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9" name="Google Shape;66;p13">
            <a:extLst>
              <a:ext uri="{FF2B5EF4-FFF2-40B4-BE49-F238E27FC236}">
                <a16:creationId xmlns:a16="http://schemas.microsoft.com/office/drawing/2014/main" id="{F826FA2E-994A-29D1-DD2F-33369EDC41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A6EAEB3-42DE-3734-6457-F3E1D5E78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7461" t="4786" r="3809" b="17921"/>
          <a:stretch>
            <a:fillRect/>
          </a:stretch>
        </p:blipFill>
        <p:spPr>
          <a:xfrm>
            <a:off x="5643716" y="1612489"/>
            <a:ext cx="5476568" cy="3097161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28F07992-6B7A-02D1-A2C3-62A893508F88}"/>
              </a:ext>
            </a:extLst>
          </p:cNvPr>
          <p:cNvSpPr/>
          <p:nvPr/>
        </p:nvSpPr>
        <p:spPr>
          <a:xfrm>
            <a:off x="0" y="1249976"/>
            <a:ext cx="3932237" cy="1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4108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6E3F-AFE5-7645-1E90-22FD6C5B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343541"/>
            <a:ext cx="3932237" cy="1600200"/>
          </a:xfrm>
        </p:spPr>
        <p:txBody>
          <a:bodyPr/>
          <a:lstStyle/>
          <a:p>
            <a:r>
              <a:rPr lang="el-GR" dirty="0"/>
              <a:t>Στοιχεία κλασματικής τάξης και CPE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F1787-F571-8011-89F5-E21EAB2B7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Ο κλασματικός λογισμός επιτρέπει τον ορισμό παραγώγων και ολοκληρωμάτων μη ακέραιης τάξης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Στα ηλεκτρικά κυκλώματα χρησιμοποιείται το Constant Phase </a:t>
            </a:r>
            <a:r>
              <a:rPr lang="el-GR" dirty="0" err="1"/>
              <a:t>Element</a:t>
            </a:r>
            <a:r>
              <a:rPr lang="el-GR" dirty="0"/>
              <a:t> (CPE)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Το CPE περιγράφει μη ιδανική χωρητική συμπεριφορά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Η φάση του παραμένει σταθερή ως προς τη συχνότητα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Καθώς τα περισσότερα μοντέλα που χρησιμοποιήσαμε περιέχουνε τον πυκνωτή κλασματικής τάξης η υπάρχουσα εργασία εστιάζει στην προσέγγιση αυτού του στοιχείου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D32D6-6D3E-FE0A-2F9D-6F7B09D7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3</a:t>
            </a:fld>
            <a:endParaRPr lang="el-G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3ECDAF4-5EDE-14CB-2E51-32189D2C6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FCF9D9A-10BF-20B7-1912-1FC2DBEAEF1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3</a:t>
            </a:fld>
            <a:endParaRPr lang="el-GR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007399C3-35C0-B775-08B0-CC61DBF5D6B6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4" name="Google Shape;66;p13">
            <a:extLst>
              <a:ext uri="{FF2B5EF4-FFF2-40B4-BE49-F238E27FC236}">
                <a16:creationId xmlns:a16="http://schemas.microsoft.com/office/drawing/2014/main" id="{ABB5DC25-A4E9-155B-DB19-381A4C6319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31.png">
            <a:extLst>
              <a:ext uri="{FF2B5EF4-FFF2-40B4-BE49-F238E27FC236}">
                <a16:creationId xmlns:a16="http://schemas.microsoft.com/office/drawing/2014/main" id="{9F0B2E33-7F28-091B-338C-A2C2E85B636B}"/>
              </a:ext>
            </a:extLst>
          </p:cNvPr>
          <p:cNvPicPr/>
          <p:nvPr/>
        </p:nvPicPr>
        <p:blipFill>
          <a:blip r:embed="rId4"/>
          <a:srcRect l="6421"/>
          <a:stretch>
            <a:fillRect/>
          </a:stretch>
        </p:blipFill>
        <p:spPr>
          <a:xfrm>
            <a:off x="5906791" y="1802924"/>
            <a:ext cx="4724993" cy="432054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30A4A85-0AD1-E82C-EB45-92BF8196716A}"/>
                  </a:ext>
                </a:extLst>
              </p:cNvPr>
              <p:cNvSpPr txBox="1"/>
              <p:nvPr/>
            </p:nvSpPr>
            <p:spPr>
              <a:xfrm>
                <a:off x="5216372" y="249780"/>
                <a:ext cx="6105832" cy="1539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l-GR" sz="320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20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3200" i="0" smtClean="0">
                              <a:latin typeface="Cambria Math" panose="02040503050406030204" pitchFamily="18" charset="0"/>
                            </a:rPr>
                            <m:t>CPE</m:t>
                          </m:r>
                        </m:sub>
                      </m:sSub>
                      <m:d>
                        <m:dPr>
                          <m:ctrlPr>
                            <a:rPr lang="el-GR" sz="320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20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l-GR" sz="32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sz="320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320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l-GR" sz="320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20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l-GR" sz="3200" i="0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sub>
                          </m:sSub>
                          <m:sSup>
                            <m:sSupPr>
                              <m:ctrlPr>
                                <a:rPr lang="el-GR" sz="320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320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l-GR" sz="3200" i="0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l-GR" sz="3200" dirty="0"/>
              </a:p>
              <a:p>
                <a:pPr marL="0" indent="0" algn="ctr">
                  <a:buNone/>
                </a:pPr>
                <a:endParaRPr lang="el-GR" sz="105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l-GR" sz="180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l-GR" sz="1800" i="0" dirty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l-GR" sz="1800" i="0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1800" i="0" dirty="0"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el-GR" sz="1800" i="0" dirty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l-GR" sz="1800" i="1" dirty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l-GR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30A4A85-0AD1-E82C-EB45-92BF81967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372" y="249780"/>
                <a:ext cx="6105832" cy="1539268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>
            <a:extLst>
              <a:ext uri="{FF2B5EF4-FFF2-40B4-BE49-F238E27FC236}">
                <a16:creationId xmlns:a16="http://schemas.microsoft.com/office/drawing/2014/main" id="{3E2ECDD3-844C-DBA4-948C-A91A265F688B}"/>
              </a:ext>
            </a:extLst>
          </p:cNvPr>
          <p:cNvSpPr/>
          <p:nvPr/>
        </p:nvSpPr>
        <p:spPr>
          <a:xfrm>
            <a:off x="0" y="1256655"/>
            <a:ext cx="4768849" cy="1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9295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CF05-7DFE-1E5A-8AC1-F734B40E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319548"/>
            <a:ext cx="3932237" cy="1600200"/>
          </a:xfrm>
        </p:spPr>
        <p:txBody>
          <a:bodyPr/>
          <a:lstStyle/>
          <a:p>
            <a:r>
              <a:rPr lang="el-GR" dirty="0"/>
              <a:t>Από το ιδανικό CPE σε πραγματικό κύκλωμα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446DA-043A-615E-A707-9C1FFE344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09887"/>
            <a:ext cx="3932237" cy="1494965"/>
          </a:xfrm>
        </p:spPr>
        <p:txBody>
          <a:bodyPr/>
          <a:lstStyle/>
          <a:p>
            <a:pPr algn="ctr"/>
            <a:r>
              <a:rPr lang="el-GR" dirty="0"/>
              <a:t>Αρχικά προσεγγίζονται τα κλασματικά</a:t>
            </a:r>
            <a:r>
              <a:rPr lang="en-US" dirty="0"/>
              <a:t> (fractional)</a:t>
            </a:r>
            <a:r>
              <a:rPr lang="el-GR" dirty="0"/>
              <a:t> στοιχεία ξεχωριστά. Στη συνέχεια εξετάζεται και η προσέγγιση της συνολικής εμπέδησης.</a:t>
            </a:r>
            <a:br>
              <a:rPr lang="el-GR" dirty="0"/>
            </a:br>
            <a:endParaRPr lang="el-G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0D028-47EC-9371-FA65-4517165A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4</a:t>
            </a:fld>
            <a:endParaRPr lang="el-GR"/>
          </a:p>
        </p:txBody>
      </p:sp>
      <p:pic>
        <p:nvPicPr>
          <p:cNvPr id="7" name="image28.png">
            <a:extLst>
              <a:ext uri="{FF2B5EF4-FFF2-40B4-BE49-F238E27FC236}">
                <a16:creationId xmlns:a16="http://schemas.microsoft.com/office/drawing/2014/main" id="{0B8D21C7-A187-D931-FBF8-2371641E6BC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997666" y="304269"/>
            <a:ext cx="1225868" cy="5585460"/>
          </a:xfrm>
          <a:prstGeom prst="rect">
            <a:avLst/>
          </a:prstGeom>
          <a:ln/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4259544-06A3-B4CC-0693-A3469C796BD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4</a:t>
            </a:fld>
            <a:endParaRPr lang="el-GR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D213E80-0E5D-8F86-8849-B2FC50FBF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D6158D8-31D7-E4A9-19B7-919324CEA90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4</a:t>
            </a:fld>
            <a:endParaRPr lang="el-GR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7F8363A2-5D42-7667-9521-C35A12E0A14C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2" name="Google Shape;66;p13">
            <a:extLst>
              <a:ext uri="{FF2B5EF4-FFF2-40B4-BE49-F238E27FC236}">
                <a16:creationId xmlns:a16="http://schemas.microsoft.com/office/drawing/2014/main" id="{E6230862-B9C1-BDE0-C1DC-4F094F5C4B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3">
            <a:extLst>
              <a:ext uri="{FF2B5EF4-FFF2-40B4-BE49-F238E27FC236}">
                <a16:creationId xmlns:a16="http://schemas.microsoft.com/office/drawing/2014/main" id="{97FC1EE9-1CF9-469C-4DC1-D93B77C5EED3}"/>
              </a:ext>
            </a:extLst>
          </p:cNvPr>
          <p:cNvSpPr/>
          <p:nvPr/>
        </p:nvSpPr>
        <p:spPr>
          <a:xfrm>
            <a:off x="0" y="1280648"/>
            <a:ext cx="4772025" cy="2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321B08-1578-07C0-25E1-21B9A2F4FB9C}"/>
              </a:ext>
            </a:extLst>
          </p:cNvPr>
          <p:cNvSpPr txBox="1"/>
          <p:nvPr/>
        </p:nvSpPr>
        <p:spPr>
          <a:xfrm>
            <a:off x="580746" y="1908004"/>
            <a:ext cx="4450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Δεν υπάρχουν ιδανικά στοιχεία κλασματικής τάξης για αυτό τα προσεγγίζουμε</a:t>
            </a:r>
          </a:p>
        </p:txBody>
      </p:sp>
    </p:spTree>
    <p:extLst>
      <p:ext uri="{BB962C8B-B14F-4D97-AF65-F5344CB8AC3E}">
        <p14:creationId xmlns:p14="http://schemas.microsoft.com/office/powerpoint/2010/main" val="412126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D40C-F49D-4276-D319-78F24A39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4512"/>
          </a:xfrm>
        </p:spPr>
        <p:txBody>
          <a:bodyPr>
            <a:normAutofit/>
          </a:bodyPr>
          <a:lstStyle/>
          <a:p>
            <a:pPr algn="ctr"/>
            <a:r>
              <a:rPr lang="el-GR" sz="3200" dirty="0"/>
              <a:t>CFE και Oustaloup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52BB8-0A1E-9D2B-263B-366058267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40311"/>
            <a:ext cx="5181600" cy="4304176"/>
          </a:xfrm>
        </p:spPr>
        <p:txBody>
          <a:bodyPr>
            <a:normAutofit/>
          </a:bodyPr>
          <a:lstStyle/>
          <a:p>
            <a:endParaRPr lang="el-GR" sz="1600" dirty="0"/>
          </a:p>
          <a:p>
            <a:pPr marL="0" indent="0" algn="ctr">
              <a:buNone/>
            </a:pPr>
            <a:r>
              <a:rPr lang="en-US" sz="2400" dirty="0"/>
              <a:t>CFE</a:t>
            </a:r>
          </a:p>
          <a:p>
            <a:pPr marL="0" indent="0" algn="ctr">
              <a:buNone/>
            </a:pPr>
            <a:endParaRPr lang="el-GR" sz="1600" dirty="0"/>
          </a:p>
          <a:p>
            <a:r>
              <a:rPr lang="el-GR" sz="1600" dirty="0"/>
              <a:t>Continued Fraction Expansion</a:t>
            </a:r>
            <a:br>
              <a:rPr lang="el-GR" sz="1600" dirty="0"/>
            </a:br>
            <a:endParaRPr lang="el-GR" sz="1600" dirty="0"/>
          </a:p>
          <a:p>
            <a:r>
              <a:rPr lang="el-GR" sz="1600" dirty="0"/>
              <a:t>Προσέγγιση του κλασματικού τελεστή από λόγο πολυωνύμων</a:t>
            </a:r>
            <a:br>
              <a:rPr lang="el-GR" sz="1600" dirty="0"/>
            </a:br>
            <a:endParaRPr lang="el-GR" sz="1600" dirty="0"/>
          </a:p>
          <a:p>
            <a:r>
              <a:rPr lang="el-GR" sz="1600" dirty="0"/>
              <a:t>Ανάπτυξη γύρω από επιλεγμένη συχνότητα</a:t>
            </a:r>
            <a:br>
              <a:rPr lang="el-GR" sz="1600" dirty="0"/>
            </a:br>
            <a:endParaRPr lang="el-GR" sz="1600" dirty="0"/>
          </a:p>
          <a:p>
            <a:r>
              <a:rPr lang="el-GR" sz="1600" dirty="0"/>
              <a:t>Άμεση μετάβαση σε RC δίκτυα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76430-B1D2-D2E1-7A96-4AD6B99DA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40310"/>
            <a:ext cx="5181600" cy="430417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2400" dirty="0"/>
              <a:t>Oustaloup</a:t>
            </a:r>
          </a:p>
          <a:p>
            <a:endParaRPr lang="en-US" sz="1600" dirty="0"/>
          </a:p>
          <a:p>
            <a:r>
              <a:rPr lang="el-GR" sz="1600" dirty="0"/>
              <a:t>Προσέγγιση σε προκαθορισμένο εύρος συχνοτήτων</a:t>
            </a:r>
            <a:br>
              <a:rPr lang="el-GR" sz="1600" dirty="0"/>
            </a:br>
            <a:endParaRPr lang="en-US" sz="1600" dirty="0"/>
          </a:p>
          <a:p>
            <a:r>
              <a:rPr lang="el-GR" sz="1600" dirty="0"/>
              <a:t>Κατανομή πόλων και μηδενικών σε λογαριθμική κλίμακα</a:t>
            </a:r>
            <a:br>
              <a:rPr lang="el-GR" sz="1600" dirty="0"/>
            </a:br>
            <a:endParaRPr lang="en-US" sz="1600" dirty="0"/>
          </a:p>
          <a:p>
            <a:r>
              <a:rPr lang="el-GR" sz="1600" dirty="0"/>
              <a:t>Η αύξηση της τάξης συνήθως βελτιώνει την ακρίβεια</a:t>
            </a:r>
            <a:br>
              <a:rPr lang="el-GR" sz="1600" dirty="0"/>
            </a:br>
            <a:endParaRPr lang="en-US" sz="1600" dirty="0"/>
          </a:p>
          <a:p>
            <a:r>
              <a:rPr lang="el-GR" sz="1600" dirty="0"/>
              <a:t>Αυξάνει όμως την κυκλωματική πολυπλοκότητα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88BB0-F947-9A83-4897-28BC46C6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5</a:t>
            </a:fld>
            <a:endParaRPr lang="el-GR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12A6F7B-E517-08C4-5BAF-E1F1257E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EDC744-4ADF-EEA2-C38C-E7D6299FC24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5</a:t>
            </a:fld>
            <a:endParaRPr lang="el-GR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A8BA54-85E6-8702-0B89-2A9DCC415F35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0" name="Google Shape;66;p13">
            <a:extLst>
              <a:ext uri="{FF2B5EF4-FFF2-40B4-BE49-F238E27FC236}">
                <a16:creationId xmlns:a16="http://schemas.microsoft.com/office/drawing/2014/main" id="{9DB34486-FBF4-F791-7ED4-5F4A9A93E8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3">
            <a:extLst>
              <a:ext uri="{FF2B5EF4-FFF2-40B4-BE49-F238E27FC236}">
                <a16:creationId xmlns:a16="http://schemas.microsoft.com/office/drawing/2014/main" id="{4323AB81-16B9-94A2-7287-D800E20ACF86}"/>
              </a:ext>
            </a:extLst>
          </p:cNvPr>
          <p:cNvSpPr/>
          <p:nvPr/>
        </p:nvSpPr>
        <p:spPr>
          <a:xfrm>
            <a:off x="0" y="909638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50266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864E-9D8D-0574-7FF1-6CAC84170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1456"/>
          </a:xfrm>
        </p:spPr>
        <p:txBody>
          <a:bodyPr>
            <a:noAutofit/>
          </a:bodyPr>
          <a:lstStyle/>
          <a:p>
            <a:pPr algn="ctr"/>
            <a:r>
              <a:rPr lang="el-GR" sz="3200" dirty="0"/>
              <a:t>Κυκλωματικές τοπολογίες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8188D-FD4C-204D-E0A9-D1BF2206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467" y="1293466"/>
            <a:ext cx="1580535" cy="1753317"/>
          </a:xfrm>
        </p:spPr>
        <p:txBody>
          <a:bodyPr>
            <a:normAutofit lnSpcReduction="10000"/>
          </a:bodyPr>
          <a:lstStyle/>
          <a:p>
            <a:r>
              <a:rPr lang="el-GR" sz="2400" dirty="0"/>
              <a:t>Foster I</a:t>
            </a:r>
            <a:endParaRPr lang="en-US" sz="2400" dirty="0"/>
          </a:p>
          <a:p>
            <a:r>
              <a:rPr lang="el-GR" sz="2400" dirty="0"/>
              <a:t>Foster II</a:t>
            </a:r>
            <a:endParaRPr lang="en-US" sz="2400" dirty="0"/>
          </a:p>
          <a:p>
            <a:r>
              <a:rPr lang="el-GR" sz="2400" dirty="0"/>
              <a:t>Cauer I</a:t>
            </a:r>
            <a:endParaRPr lang="en-US" sz="2400" dirty="0"/>
          </a:p>
          <a:p>
            <a:r>
              <a:rPr lang="el-GR" sz="2400" dirty="0"/>
              <a:t>Cauer II</a:t>
            </a:r>
            <a:endParaRPr lang="en-US" sz="2400" dirty="0"/>
          </a:p>
          <a:p>
            <a:pPr marL="0" indent="0">
              <a:buNone/>
            </a:pPr>
            <a:endParaRPr lang="el-GR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0D912-D1A5-E2D6-A4B4-F9FD2EA7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6</a:t>
            </a:fld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5AA8-BA03-599F-00C5-6643FCD91DD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6</a:t>
            </a:fld>
            <a:endParaRPr lang="el-GR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C4CF869-175C-EB7A-8764-348A4F35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A2EA87F-F419-6F11-ABC0-7EEE0910EBB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6</a:t>
            </a:fld>
            <a:endParaRPr lang="el-GR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3347085-68FF-E196-9DBC-88A0EF40E0E0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0" name="Google Shape;66;p13">
            <a:extLst>
              <a:ext uri="{FF2B5EF4-FFF2-40B4-BE49-F238E27FC236}">
                <a16:creationId xmlns:a16="http://schemas.microsoft.com/office/drawing/2014/main" id="{3E1CA986-45E3-5D9C-15CD-E71FD9412B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hape 3">
            <a:extLst>
              <a:ext uri="{FF2B5EF4-FFF2-40B4-BE49-F238E27FC236}">
                <a16:creationId xmlns:a16="http://schemas.microsoft.com/office/drawing/2014/main" id="{E2DC0EDE-21A5-2A02-0568-15365BF1CC9C}"/>
              </a:ext>
            </a:extLst>
          </p:cNvPr>
          <p:cNvSpPr/>
          <p:nvPr/>
        </p:nvSpPr>
        <p:spPr>
          <a:xfrm>
            <a:off x="0" y="806248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98D36C-B4BE-45A8-2413-7557B0B3B073}"/>
              </a:ext>
            </a:extLst>
          </p:cNvPr>
          <p:cNvSpPr txBox="1"/>
          <p:nvPr/>
        </p:nvSpPr>
        <p:spPr>
          <a:xfrm>
            <a:off x="-461071" y="3385550"/>
            <a:ext cx="610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dirty="0"/>
              <a:t>Η ίδια ρητή εμπέδηση μπορεί να υλοποιηθεί με διαφορετικές κυκλωματικές τοπολογίες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BA0830-5A97-57BE-093D-68994BB064FE}"/>
              </a:ext>
            </a:extLst>
          </p:cNvPr>
          <p:cNvSpPr txBox="1"/>
          <p:nvPr/>
        </p:nvSpPr>
        <p:spPr>
          <a:xfrm>
            <a:off x="-83575" y="5503228"/>
            <a:ext cx="61795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1400" dirty="0"/>
              <a:t>Στην εργασία χρησιμοποιείται κυρίως η Cauer I για ομοιομορφία και ευκολία υλοποίησης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AB26FF-8F78-C797-8A7B-F096257334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" t="6544" r="1408" b="7619"/>
          <a:stretch>
            <a:fillRect/>
          </a:stretch>
        </p:blipFill>
        <p:spPr bwMode="auto">
          <a:xfrm>
            <a:off x="5471651" y="1293466"/>
            <a:ext cx="6405374" cy="42457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3569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4A15-1530-6B0D-020C-30CD948C6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378542"/>
            <a:ext cx="3932237" cy="1600200"/>
          </a:xfrm>
        </p:spPr>
        <p:txBody>
          <a:bodyPr/>
          <a:lstStyle/>
          <a:p>
            <a:r>
              <a:rPr lang="el-GR" dirty="0"/>
              <a:t>Μοντέλα βιοεμπέδησης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7C7F7-1939-D549-229A-3875076B5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5225" y="1999297"/>
            <a:ext cx="3932237" cy="3811588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Cole Μονής Διασποράς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Cole Διπλής Διασποράς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Μοντέλο Διεπαφής Ηλεκτροδίου–Ιστού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Κλασματικό Μοντέλο Ξύλου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Μοντέλο Ρίζας–Βλαστού–Ηλεκτροδίου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Κλασματικό Μοντέλο Ανθρώπινου Αναπνευστικού Συστήματος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7C486-182D-8F5D-AFB2-96AB27BF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7</a:t>
            </a:fld>
            <a:endParaRPr lang="el-GR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FAC4065-7504-D07E-EDD9-1A88D1CF3C5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7</a:t>
            </a:fld>
            <a:endParaRPr lang="el-G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3AA1971-2A28-00BB-56C8-8C1924FDC4C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7</a:t>
            </a:fld>
            <a:endParaRPr lang="el-GR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FD692B1-97D0-FA64-8956-3C2431E3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BC780EB-2605-8C8D-7867-DD281325B58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7</a:t>
            </a:fld>
            <a:endParaRPr lang="el-GR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887CC40-1653-29A1-7158-DCE35C7961CA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2" name="Google Shape;66;p13">
            <a:extLst>
              <a:ext uri="{FF2B5EF4-FFF2-40B4-BE49-F238E27FC236}">
                <a16:creationId xmlns:a16="http://schemas.microsoft.com/office/drawing/2014/main" id="{3D239B08-709E-8D31-533D-8EC833F675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3">
            <a:extLst>
              <a:ext uri="{FF2B5EF4-FFF2-40B4-BE49-F238E27FC236}">
                <a16:creationId xmlns:a16="http://schemas.microsoft.com/office/drawing/2014/main" id="{E42E77E0-D276-30F3-CEF6-EC21FB7408CB}"/>
              </a:ext>
            </a:extLst>
          </p:cNvPr>
          <p:cNvSpPr/>
          <p:nvPr/>
        </p:nvSpPr>
        <p:spPr>
          <a:xfrm flipV="1">
            <a:off x="0" y="1221658"/>
            <a:ext cx="3785419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5" name="image16.png">
            <a:extLst>
              <a:ext uri="{FF2B5EF4-FFF2-40B4-BE49-F238E27FC236}">
                <a16:creationId xmlns:a16="http://schemas.microsoft.com/office/drawing/2014/main" id="{26248294-8991-B25F-A1E4-DCDAEA3C8CA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4989154" y="1999297"/>
            <a:ext cx="7015163" cy="2849880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45DEB4-3D35-1054-ABD5-37E4D8724F63}"/>
              </a:ext>
            </a:extLst>
          </p:cNvPr>
          <p:cNvSpPr txBox="1"/>
          <p:nvPr/>
        </p:nvSpPr>
        <p:spPr>
          <a:xfrm>
            <a:off x="185225" y="5398155"/>
            <a:ext cx="5826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/>
              <a:t>Τα κυκλωματικά σχήματα των μοντέλων παρουσιάζονται στην επόμενη διαφάνεια</a:t>
            </a:r>
          </a:p>
        </p:txBody>
      </p:sp>
    </p:spTree>
    <p:extLst>
      <p:ext uri="{BB962C8B-B14F-4D97-AF65-F5344CB8AC3E}">
        <p14:creationId xmlns:p14="http://schemas.microsoft.com/office/powerpoint/2010/main" val="24107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8406A-C0A8-CD35-2041-01835CD01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00" y="545254"/>
            <a:ext cx="7428088" cy="557106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DFD9C8-568B-52DA-02D1-7C7299B4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l-GR">
                <a:solidFill>
                  <a:srgbClr val="FFFFFF"/>
                </a:solidFill>
              </a:rPr>
              <a:t>Δημήτριος Γώγος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C9FAAF-A8A3-B0D8-DC9F-1397BACD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F7C9E3-788B-4E47-B1D3-1B3CE549EFAE}" type="slidenum">
              <a:rPr lang="el-GR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l-GR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FF4C0-9547-B3AF-53C2-E93B4FEF04F0}"/>
              </a:ext>
            </a:extLst>
          </p:cNvPr>
          <p:cNvSpPr txBox="1"/>
          <p:nvPr/>
        </p:nvSpPr>
        <p:spPr>
          <a:xfrm>
            <a:off x="614699" y="2592123"/>
            <a:ext cx="36722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1600" dirty="0"/>
              <a:t>Κάθε μοντέλο περιέχει ένα ή περισσότερα κλασματικά στοιχεία, τα οποία είτε προσεγγίζονται ανεξάρτητα είτε μέσω της συνολικής εμπέδησης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ED4A63-94D1-98A9-B2D2-379E25F0F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620" y="4369567"/>
            <a:ext cx="952583" cy="281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C90346-1616-E21B-CD7D-33A1C7A37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733" y="739222"/>
            <a:ext cx="952583" cy="3200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505D1E-949C-C163-AA14-57C99B80167A}"/>
              </a:ext>
            </a:extLst>
          </p:cNvPr>
          <p:cNvSpPr txBox="1"/>
          <p:nvPr/>
        </p:nvSpPr>
        <p:spPr>
          <a:xfrm>
            <a:off x="899834" y="4089515"/>
            <a:ext cx="3101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/>
              <a:t>Σημαντικό ρόλο στην προσέγγισή τους παίζει το εύρος συχνοτήτων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718C67-51B0-03D7-1B3D-DE65E1779F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7580" y="2744744"/>
            <a:ext cx="929721" cy="3200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2A1DDE-E2FA-20E1-8254-6E02E7A48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699" y="4529600"/>
            <a:ext cx="891617" cy="2438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0F0AAB-A54E-5802-7BC0-5C2FCF87FB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0900" y="899256"/>
            <a:ext cx="891617" cy="2667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A1BFCC-1AFA-11B8-EF28-B259A643CD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3053" y="3669341"/>
            <a:ext cx="845893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16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0B33-CB48-EFE4-5F61-C3F29F27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544513"/>
          </a:xfrm>
        </p:spPr>
        <p:txBody>
          <a:bodyPr>
            <a:normAutofit/>
          </a:bodyPr>
          <a:lstStyle/>
          <a:p>
            <a:pPr algn="ctr"/>
            <a:r>
              <a:rPr lang="el-GR" sz="3200" dirty="0"/>
              <a:t>CPE2RC </a:t>
            </a:r>
            <a:r>
              <a:rPr lang="el-GR" sz="3200" dirty="0" err="1"/>
              <a:t>vs</a:t>
            </a:r>
            <a:r>
              <a:rPr lang="el-GR" sz="3200" dirty="0"/>
              <a:t> TF2RC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99C876-6A4F-696C-23E3-E708D31E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9</a:t>
            </a:fld>
            <a:endParaRPr lang="el-G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7AABFC-05DF-8F24-8452-E7D9CC7F9D6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9</a:t>
            </a:fld>
            <a:endParaRPr lang="el-GR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19B7757-C285-546C-F5D3-814C79BB816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9</a:t>
            </a:fld>
            <a:endParaRPr lang="el-G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1D65B3-38AE-1AEA-D3EB-64B3A7208BD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9</a:t>
            </a:fld>
            <a:endParaRPr lang="el-GR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147451F-8F04-EE5A-F2B4-E9CAD7C5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144C408-CA3D-5183-15AC-7C3B919881D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9</a:t>
            </a:fld>
            <a:endParaRPr lang="el-G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F5E16FB8-7B27-9BDC-ACB7-51D39071DF2F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5" name="Google Shape;66;p13">
            <a:extLst>
              <a:ext uri="{FF2B5EF4-FFF2-40B4-BE49-F238E27FC236}">
                <a16:creationId xmlns:a16="http://schemas.microsoft.com/office/drawing/2014/main" id="{EA01C469-4BC8-8A2E-8222-B54ED8E1D3B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AFFB7B8D-CDDD-3D29-0328-693029E6C735}"/>
              </a:ext>
            </a:extLst>
          </p:cNvPr>
          <p:cNvSpPr/>
          <p:nvPr/>
        </p:nvSpPr>
        <p:spPr>
          <a:xfrm>
            <a:off x="0" y="818536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C73776-EA38-1530-7A0C-3675BE93466F}"/>
              </a:ext>
            </a:extLst>
          </p:cNvPr>
          <p:cNvSpPr txBox="1"/>
          <p:nvPr/>
        </p:nvSpPr>
        <p:spPr>
          <a:xfrm>
            <a:off x="3038168" y="3537924"/>
            <a:ext cx="6115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dirty="0"/>
              <a:t>Βασική διαφορά: στο TF2RC δεν αντικαθιστούμε ένα-ένα τα κλασματικά στοιχεία, αλλά προσεγγίζουμε όλο το μοντέλο συνολικά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3DCDF5-8432-3C1D-0A71-9D67D1FCA0F6}"/>
              </a:ext>
            </a:extLst>
          </p:cNvPr>
          <p:cNvSpPr txBox="1"/>
          <p:nvPr/>
        </p:nvSpPr>
        <p:spPr>
          <a:xfrm>
            <a:off x="793750" y="1506702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b="1" dirty="0"/>
              <a:t>CPE2RC:</a:t>
            </a:r>
            <a:r>
              <a:rPr lang="el-GR" dirty="0"/>
              <a:t> </a:t>
            </a:r>
            <a:r>
              <a:rPr lang="el-GR" dirty="0">
                <a:latin typeface="+mn-lt"/>
              </a:rPr>
              <a:t>CPE1 → CFE/Oustaloup → RC1</a:t>
            </a:r>
            <a:r>
              <a:rPr lang="el-GR" dirty="0"/>
              <a:t> και </a:t>
            </a:r>
            <a:r>
              <a:rPr lang="el-GR" dirty="0">
                <a:latin typeface="+mn-lt"/>
              </a:rPr>
              <a:t>CPE2 → CFE/Oustaloup → RC2</a:t>
            </a:r>
            <a:r>
              <a:rPr lang="el-GR" dirty="0"/>
              <a:t> → τελικό κύκλωμα</a:t>
            </a:r>
          </a:p>
          <a:p>
            <a:pPr algn="ctr"/>
            <a:endParaRPr lang="el-GR" dirty="0"/>
          </a:p>
          <a:p>
            <a:pPr algn="ctr"/>
            <a:br>
              <a:rPr lang="el-GR" dirty="0"/>
            </a:br>
            <a:r>
              <a:rPr lang="el-GR" b="1" dirty="0"/>
              <a:t>TF2RC:</a:t>
            </a:r>
            <a:r>
              <a:rPr lang="el-GR" dirty="0"/>
              <a:t> </a:t>
            </a:r>
            <a:r>
              <a:rPr lang="el-GR" dirty="0">
                <a:latin typeface="+mn-lt"/>
              </a:rPr>
              <a:t>Ολόκληρο μοντέλο → </a:t>
            </a:r>
            <a:r>
              <a:rPr lang="el-GR" dirty="0" err="1">
                <a:latin typeface="+mn-lt"/>
              </a:rPr>
              <a:t>Ztotal</a:t>
            </a:r>
            <a:r>
              <a:rPr lang="el-GR" dirty="0">
                <a:latin typeface="+mn-lt"/>
              </a:rPr>
              <a:t>(s) → ρητή προσέγγιση → ένα RC δίκτυο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575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3E8D-C7C1-5A49-2F56-B4A86F8D4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809" y="136524"/>
            <a:ext cx="6806381" cy="522237"/>
          </a:xfrm>
        </p:spPr>
        <p:txBody>
          <a:bodyPr>
            <a:noAutofit/>
          </a:bodyPr>
          <a:lstStyle/>
          <a:p>
            <a:r>
              <a:rPr lang="el-GR" sz="3200" dirty="0"/>
              <a:t>Παράδειγμα συνολικής προσέγγισης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51355-AA7C-5BE8-841B-F0A1FC29F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7340" y="800972"/>
            <a:ext cx="5535561" cy="380026"/>
          </a:xfrm>
        </p:spPr>
        <p:txBody>
          <a:bodyPr>
            <a:normAutofit fontScale="62500" lnSpcReduction="20000"/>
          </a:bodyPr>
          <a:lstStyle/>
          <a:p>
            <a:r>
              <a:rPr lang="el-GR" dirty="0"/>
              <a:t>Μοντέλο Διεπαφής Ηλεκτροδίου–Ιστού (</a:t>
            </a:r>
            <a:r>
              <a:rPr lang="el-GR" dirty="0" err="1"/>
              <a:t>Electrode</a:t>
            </a:r>
            <a:r>
              <a:rPr lang="el-GR" dirty="0"/>
              <a:t>–</a:t>
            </a:r>
            <a:r>
              <a:rPr lang="el-GR" dirty="0" err="1"/>
              <a:t>Tissue</a:t>
            </a:r>
            <a:r>
              <a:rPr lang="el-GR" dirty="0"/>
              <a:t>)</a:t>
            </a:r>
            <a:endParaRPr lang="en-US" dirty="0"/>
          </a:p>
          <a:p>
            <a:endParaRPr lang="el-G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CBA19-42B1-394C-0DEF-623BD6511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10</a:t>
            </a:fld>
            <a:endParaRPr lang="el-G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BA1055-213F-D050-7134-655B458EB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809" y="1122363"/>
            <a:ext cx="6524625" cy="138112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D43266-F5BF-7FB0-BCE2-165F6C84FEC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10</a:t>
            </a:fld>
            <a:endParaRPr lang="el-G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C7BBBE-9136-38DB-666A-D7A6360DFE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10</a:t>
            </a:fld>
            <a:endParaRPr lang="el-GR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6E3EB0F-91FD-A008-E15F-B15858DA676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10</a:t>
            </a:fld>
            <a:endParaRPr lang="el-G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BF11F70-73A7-AEFF-DEC1-2B133B9E28C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10</a:t>
            </a:fld>
            <a:endParaRPr lang="el-GR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A0D412C-60A5-C288-5A00-F87EF7602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78B9AA-826D-F632-58F9-91665548F98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10</a:t>
            </a:fld>
            <a:endParaRPr lang="el-G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39315A22-47EA-77CB-3053-066B37AC70C1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5" name="Google Shape;66;p13">
            <a:extLst>
              <a:ext uri="{FF2B5EF4-FFF2-40B4-BE49-F238E27FC236}">
                <a16:creationId xmlns:a16="http://schemas.microsoft.com/office/drawing/2014/main" id="{4C5E793F-192B-1472-A89A-389B187B45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7467E2E1-C5DD-4C3A-56F3-6E81FD80CAC0}"/>
              </a:ext>
            </a:extLst>
          </p:cNvPr>
          <p:cNvSpPr/>
          <p:nvPr/>
        </p:nvSpPr>
        <p:spPr>
          <a:xfrm>
            <a:off x="0" y="658761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CA1757-89FE-4067-40B0-1A4F45E45792}"/>
                  </a:ext>
                </a:extLst>
              </p:cNvPr>
              <p:cNvSpPr txBox="1"/>
              <p:nvPr/>
            </p:nvSpPr>
            <p:spPr>
              <a:xfrm>
                <a:off x="2005781" y="3323953"/>
                <a:ext cx="8681884" cy="582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l-GR" dirty="0"/>
                  <a:t>Ζ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l-GR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l-GR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l-GR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l-GR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l-GR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l-GR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l-GR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l-GR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l-G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l-G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l-GR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l-GR" b="0" i="0" smtClean="0">
                        <a:latin typeface="Cambria Math" panose="02040503050406030204" pitchFamily="18" charset="0"/>
                      </a:rPr>
                      <m:t>  −&gt;</m:t>
                    </m:r>
                    <m:f>
                      <m:fPr>
                        <m:ctrlPr>
                          <a:rPr lang="en-US" i="0" dirty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 dirty="0"/>
                          <m:t>0.1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l-GR" b="0" i="1" dirty="0" smtClean="0">
                                <a:latin typeface="Cambria Math" panose="02040503050406030204" pitchFamily="18" charset="0"/>
                              </a:rPr>
                              <m:t>0.875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i="0" dirty="0"/>
                          <m:t> + 0.0071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l-GR" b="0" i="1" dirty="0" smtClean="0">
                                <a:latin typeface="Cambria Math" panose="02040503050406030204" pitchFamily="18" charset="0"/>
                              </a:rPr>
                              <m:t>0.25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0.00071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1.125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l-GR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CA1757-89FE-4067-40B0-1A4F45E45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781" y="3323953"/>
                <a:ext cx="8681884" cy="582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5C9DD0-F3FE-B298-92B7-9CE64A071719}"/>
                  </a:ext>
                </a:extLst>
              </p:cNvPr>
              <p:cNvSpPr txBox="1"/>
              <p:nvPr/>
            </p:nvSpPr>
            <p:spPr>
              <a:xfrm>
                <a:off x="3187340" y="4278312"/>
                <a:ext cx="610583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l-GR" dirty="0"/>
                  <a:t>Συνολικό μοντέλο → συνολική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l-GR" dirty="0"/>
                  <a:t> → ρητή συνάρτηση 3ης τάξης → σύνθεση RC δικτύου → 4R–3C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5C9DD0-F3FE-B298-92B7-9CE64A071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340" y="4278312"/>
                <a:ext cx="6105832" cy="646331"/>
              </a:xfrm>
              <a:prstGeom prst="rect">
                <a:avLst/>
              </a:prstGeom>
              <a:blipFill>
                <a:blip r:embed="rId5"/>
                <a:stretch>
                  <a:fillRect t="-4717" b="-15094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8B62EB5-6A7A-1A25-0C35-1E7A2FF13031}"/>
              </a:ext>
            </a:extLst>
          </p:cNvPr>
          <p:cNvSpPr txBox="1"/>
          <p:nvPr/>
        </p:nvSpPr>
        <p:spPr>
          <a:xfrm>
            <a:off x="5037856" y="2951212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Συνολική εμπέδηση:</a:t>
            </a:r>
          </a:p>
        </p:txBody>
      </p:sp>
    </p:spTree>
    <p:extLst>
      <p:ext uri="{BB962C8B-B14F-4D97-AF65-F5344CB8AC3E}">
        <p14:creationId xmlns:p14="http://schemas.microsoft.com/office/powerpoint/2010/main" val="1448373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EAFC-B946-13D2-1115-D96AB204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4512"/>
          </a:xfrm>
        </p:spPr>
        <p:txBody>
          <a:bodyPr>
            <a:normAutofit/>
          </a:bodyPr>
          <a:lstStyle/>
          <a:p>
            <a:pPr algn="ctr"/>
            <a:r>
              <a:rPr lang="el-GR" sz="3200" dirty="0"/>
              <a:t>Μεθοδολογία προσομοίωσης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DFAC6-8252-A283-907E-24F73B8BC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751" y="1276691"/>
            <a:ext cx="3478161" cy="1778054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l-GR" sz="1800" b="1" dirty="0"/>
              <a:t>MATLAB</a:t>
            </a:r>
            <a:endParaRPr lang="en-US" sz="1800" b="1" dirty="0"/>
          </a:p>
          <a:p>
            <a:r>
              <a:rPr lang="el-GR" sz="1700" dirty="0"/>
              <a:t>CPE2RC: ανεξάρτητη προσέγγιση των CPE (προσέγγιση ανά </a:t>
            </a:r>
            <a:r>
              <a:rPr lang="el-GR" sz="1700" dirty="0" err="1"/>
              <a:t>fractional</a:t>
            </a:r>
            <a:r>
              <a:rPr lang="el-GR" sz="1700" dirty="0"/>
              <a:t> στοιχείο)</a:t>
            </a:r>
            <a:endParaRPr lang="en-US" sz="1700" dirty="0"/>
          </a:p>
          <a:p>
            <a:r>
              <a:rPr lang="el-GR" sz="1700" dirty="0"/>
              <a:t>TF2RC: προσέγγιση της συνολικής εμπέδησης</a:t>
            </a:r>
            <a:endParaRPr lang="en-US" sz="17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269F3-9878-9EFB-4A69-C2F36D782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10600" y="1276691"/>
            <a:ext cx="3374923" cy="1603375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l-GR" sz="1800" b="1" dirty="0"/>
              <a:t>L</a:t>
            </a:r>
            <a:r>
              <a:rPr lang="en-US" sz="1800" b="1" dirty="0"/>
              <a:t>T</a:t>
            </a:r>
            <a:r>
              <a:rPr lang="el-GR" sz="1800" b="1" dirty="0" err="1"/>
              <a:t>spice</a:t>
            </a:r>
            <a:endParaRPr lang="en-US" sz="1800" b="1" dirty="0"/>
          </a:p>
          <a:p>
            <a:r>
              <a:rPr lang="el-GR" sz="1700" dirty="0"/>
              <a:t>Κυκλωματική προσομοίωση</a:t>
            </a:r>
            <a:endParaRPr lang="en-US" sz="1700" dirty="0"/>
          </a:p>
          <a:p>
            <a:r>
              <a:rPr lang="el-GR" sz="1700" dirty="0"/>
              <a:t>Έλεγχος της τελικής υλοποίησης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82484-F629-3292-6726-8D545B4F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11</a:t>
            </a:fld>
            <a:endParaRPr lang="el-G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46316C9-5DD1-B90E-E9AF-8B44CB5D710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11</a:t>
            </a:fld>
            <a:endParaRPr lang="el-GR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6CCF09A-C9D4-8040-79B0-1EC58CBBC4D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11</a:t>
            </a:fld>
            <a:endParaRPr lang="el-G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8E7F1B-1594-E9A2-CBD9-D81CB95B4BB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11</a:t>
            </a:fld>
            <a:endParaRPr lang="el-GR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E52C1D8-34B7-939F-9CB4-06B9C41C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857D340-6C24-4A3D-E5F8-F4900820961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11</a:t>
            </a:fld>
            <a:endParaRPr lang="el-GR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2E1A08C-ADE6-4D30-111D-62D57CA1B9B3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3" name="Google Shape;66;p13">
            <a:extLst>
              <a:ext uri="{FF2B5EF4-FFF2-40B4-BE49-F238E27FC236}">
                <a16:creationId xmlns:a16="http://schemas.microsoft.com/office/drawing/2014/main" id="{96727BD5-1EC2-32EB-11A2-413AA9F1BE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601757B5-09CA-BEDB-D991-7BEAD2DA2EA6}"/>
              </a:ext>
            </a:extLst>
          </p:cNvPr>
          <p:cNvSpPr/>
          <p:nvPr/>
        </p:nvSpPr>
        <p:spPr>
          <a:xfrm>
            <a:off x="0" y="909638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5B6D0E-0E1F-D2E0-FBB0-E2F470B7C760}"/>
              </a:ext>
            </a:extLst>
          </p:cNvPr>
          <p:cNvSpPr txBox="1"/>
          <p:nvPr/>
        </p:nvSpPr>
        <p:spPr>
          <a:xfrm>
            <a:off x="3043084" y="5599816"/>
            <a:ext cx="6105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1400" dirty="0"/>
              <a:t>Το MATLAB και το LTspice χρησιμοποιούνται σε όλη τη διαδικασία από την εξαγωγή μέχρι την επαλήθευση των κυκλωμάτων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AC667E-47BD-7009-3068-878F81943A21}"/>
              </a:ext>
            </a:extLst>
          </p:cNvPr>
          <p:cNvSpPr txBox="1"/>
          <p:nvPr/>
        </p:nvSpPr>
        <p:spPr>
          <a:xfrm>
            <a:off x="3043084" y="3421799"/>
            <a:ext cx="610583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b="1" dirty="0"/>
              <a:t>Κριτήρια</a:t>
            </a:r>
            <a:br>
              <a:rPr lang="el-GR" dirty="0"/>
            </a:br>
            <a:r>
              <a:rPr lang="el-GR" sz="1600" dirty="0"/>
              <a:t>Σφάλμα μέτρου</a:t>
            </a:r>
            <a:br>
              <a:rPr lang="el-GR" sz="1600" dirty="0"/>
            </a:br>
            <a:r>
              <a:rPr lang="el-GR" sz="1600" dirty="0"/>
              <a:t>Σφάλμα φάσης</a:t>
            </a:r>
            <a:br>
              <a:rPr lang="el-GR" sz="1600" dirty="0"/>
            </a:br>
            <a:r>
              <a:rPr lang="el-GR" sz="1600" dirty="0"/>
              <a:t>Nyquist</a:t>
            </a:r>
            <a:br>
              <a:rPr lang="el-GR" sz="1600" dirty="0"/>
            </a:br>
            <a:r>
              <a:rPr lang="el-GR" sz="1600" dirty="0"/>
              <a:t>Αριθμός αντιστάσεων / πυκνωτών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309211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CE75-852B-9F2D-FBE9-E27AFB03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4512"/>
          </a:xfrm>
        </p:spPr>
        <p:txBody>
          <a:bodyPr>
            <a:normAutofit/>
          </a:bodyPr>
          <a:lstStyle/>
          <a:p>
            <a:pPr algn="ctr"/>
            <a:r>
              <a:rPr lang="el-GR" sz="3200" dirty="0"/>
              <a:t>Επίδραση της τάξης προσέγγισης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6637-93EB-6339-5B8B-E97807D50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0439" y="1077030"/>
            <a:ext cx="4235245" cy="14425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l-GR" sz="1200" dirty="0"/>
              <a:t>Η χαμηλή τάξη οδηγεί σε απλούστερα κυκλώματα</a:t>
            </a:r>
            <a:endParaRPr lang="en-US" sz="1200" dirty="0"/>
          </a:p>
          <a:p>
            <a:pPr marL="0" indent="0" algn="ctr">
              <a:buNone/>
            </a:pPr>
            <a:r>
              <a:rPr lang="el-GR" sz="1200" dirty="0"/>
              <a:t>Η αύξηση της τάξης βελτιώνει την προσέγγιση της ιδανικής συμπεριφοράς</a:t>
            </a:r>
            <a:endParaRPr lang="en-US" sz="1200" dirty="0"/>
          </a:p>
          <a:p>
            <a:pPr marL="0" indent="0" algn="ctr">
              <a:buNone/>
            </a:pPr>
            <a:r>
              <a:rPr lang="el-GR" sz="1200" dirty="0"/>
              <a:t>Η βελτίωση συνοδεύεται από περισσότερα παθητικά στοιχεία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ADB085-2D02-4C2C-2A92-D54D28A2B05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87525" y="1458225"/>
                <a:ext cx="7356987" cy="6801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l-GR" sz="1600" i="1">
                          <a:latin typeface="Cambria Math" panose="02040503050406030204" pitchFamily="18" charset="0"/>
                        </a:rPr>
                        <m:t>𝛢𝜅𝜌</m:t>
                      </m:r>
                      <m:r>
                        <m:rPr>
                          <m:sty m:val="p"/>
                        </m:rPr>
                        <a:rPr lang="el-GR" sz="1600" b="0" i="1" smtClean="0">
                          <a:latin typeface="Cambria Math" panose="02040503050406030204" pitchFamily="18" charset="0"/>
                        </a:rPr>
                        <m:t>ί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𝛽𝜀𝜄𝛼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𝜋𝜌𝜊𝜎</m:t>
                      </m:r>
                      <m:r>
                        <m:rPr>
                          <m:sty m:val="p"/>
                        </m:rPr>
                        <a:rPr lang="el-GR" sz="1600" b="0" i="1" smtClean="0">
                          <a:latin typeface="Cambria Math" panose="02040503050406030204" pitchFamily="18" charset="0"/>
                        </a:rPr>
                        <m:t>έ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𝛾𝛾𝜄𝜎𝜂𝜍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 ⟷ 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𝛫𝜐𝜅𝜆𝜔𝜇𝛼𝜏𝜄𝜅</m:t>
                      </m:r>
                      <m:r>
                        <m:rPr>
                          <m:sty m:val="p"/>
                        </m:rPr>
                        <a:rPr lang="el-GR" sz="1600" b="0" i="1" smtClean="0">
                          <a:latin typeface="Cambria Math" panose="02040503050406030204" pitchFamily="18" charset="0"/>
                        </a:rPr>
                        <m:t>ή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𝜋𝜊𝜆𝜐𝜋𝜆𝜊𝜅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</a:rPr>
                        <m:t>ό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𝜏𝜂𝜏𝛼</m:t>
                      </m:r>
                    </m:oMath>
                  </m:oMathPara>
                </a14:m>
                <a:endParaRPr lang="el-GR" sz="1600" dirty="0"/>
              </a:p>
              <a:p>
                <a:pPr marL="0" indent="0">
                  <a:buNone/>
                </a:pPr>
                <a:endParaRPr lang="el-GR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ADB085-2D02-4C2C-2A92-D54D28A2B0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87525" y="1458225"/>
                <a:ext cx="7356987" cy="680120"/>
              </a:xfrm>
              <a:blipFill>
                <a:blip r:embed="rId3"/>
                <a:stretch>
                  <a:fillRect t="-4464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FAD65-BC65-03ED-8137-14F9D415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12</a:t>
            </a:fld>
            <a:endParaRPr lang="el-G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E0E415-18A0-7403-0E9C-7C632C52442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12</a:t>
            </a:fld>
            <a:endParaRPr lang="el-GR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240A65D-F68D-4C2C-6F7E-58ADC737390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12</a:t>
            </a:fld>
            <a:endParaRPr lang="el-GR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EE66E072-F7E6-F061-B35B-5C878670103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12</a:t>
            </a:fld>
            <a:endParaRPr lang="el-GR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702D8BB-0918-DE92-A8CC-495ECDC75EF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12</a:t>
            </a:fld>
            <a:endParaRPr lang="el-GR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E76B7AD-78BD-4971-13A5-41DD7FBF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13A82B5-F001-683E-DE46-D2020E59F77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12</a:t>
            </a:fld>
            <a:endParaRPr lang="el-GR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90A64F20-92A8-0C6F-B001-2B81B86F6942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22" name="Google Shape;66;p13">
            <a:extLst>
              <a:ext uri="{FF2B5EF4-FFF2-40B4-BE49-F238E27FC236}">
                <a16:creationId xmlns:a16="http://schemas.microsoft.com/office/drawing/2014/main" id="{332CD873-4E96-EC1B-E3B1-38F24C3AAC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8C3D8C63-A75D-0353-A3CB-A384C2AEC3C0}"/>
              </a:ext>
            </a:extLst>
          </p:cNvPr>
          <p:cNvSpPr/>
          <p:nvPr/>
        </p:nvSpPr>
        <p:spPr>
          <a:xfrm>
            <a:off x="0" y="912096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25" name="image48.png">
            <a:extLst>
              <a:ext uri="{FF2B5EF4-FFF2-40B4-BE49-F238E27FC236}">
                <a16:creationId xmlns:a16="http://schemas.microsoft.com/office/drawing/2014/main" id="{F43130D2-F6BE-B8BC-6227-7B6087E39DFA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728547" y="2430701"/>
            <a:ext cx="5274945" cy="3613785"/>
          </a:xfrm>
          <a:prstGeom prst="rect">
            <a:avLst/>
          </a:prstGeom>
          <a:ln/>
        </p:spPr>
      </p:pic>
      <p:pic>
        <p:nvPicPr>
          <p:cNvPr id="26" name="image49.png">
            <a:extLst>
              <a:ext uri="{FF2B5EF4-FFF2-40B4-BE49-F238E27FC236}">
                <a16:creationId xmlns:a16="http://schemas.microsoft.com/office/drawing/2014/main" id="{9BC1BDBF-3D37-8B38-1102-16B3A885961D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47486" y="2408476"/>
            <a:ext cx="5274945" cy="3636010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CBD49C-E8A9-E1CC-4B49-F8B531F02714}"/>
              </a:ext>
            </a:extLst>
          </p:cNvPr>
          <p:cNvSpPr txBox="1"/>
          <p:nvPr/>
        </p:nvSpPr>
        <p:spPr>
          <a:xfrm>
            <a:off x="2319125" y="2036685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/>
              <a:t>5η τάξη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61CF9-B360-CD1E-2771-2117588A42F8}"/>
              </a:ext>
            </a:extLst>
          </p:cNvPr>
          <p:cNvSpPr txBox="1"/>
          <p:nvPr/>
        </p:nvSpPr>
        <p:spPr>
          <a:xfrm>
            <a:off x="7900185" y="2036685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/>
              <a:t>2η τάξη</a:t>
            </a:r>
          </a:p>
        </p:txBody>
      </p:sp>
    </p:spTree>
    <p:extLst>
      <p:ext uri="{BB962C8B-B14F-4D97-AF65-F5344CB8AC3E}">
        <p14:creationId xmlns:p14="http://schemas.microsoft.com/office/powerpoint/2010/main" val="3409689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91E5-A359-7DD5-1E6D-662B741A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A8328-FD90-0963-218B-4B30878C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4512"/>
          </a:xfrm>
        </p:spPr>
        <p:txBody>
          <a:bodyPr>
            <a:normAutofit/>
          </a:bodyPr>
          <a:lstStyle/>
          <a:p>
            <a:pPr algn="ctr"/>
            <a:r>
              <a:rPr lang="el-GR" sz="3200" dirty="0"/>
              <a:t>Διαφορές μεταξύ αλγορίθμων προσέγγισης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30ABC-7F1C-F22F-9BA6-4E929D1A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13</a:t>
            </a:fld>
            <a:endParaRPr lang="el-G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33A1793-1B0A-FB09-0DF1-0F6D2019D88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13</a:t>
            </a:fld>
            <a:endParaRPr lang="el-GR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492071D-F831-EFDF-A18C-7FA7EC1CDA8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13</a:t>
            </a:fld>
            <a:endParaRPr lang="el-GR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AAF412AC-4DFC-A84D-0C75-245EA3CFA04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13</a:t>
            </a:fld>
            <a:endParaRPr lang="el-GR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5C75863-6B58-3593-2DB4-3A20F6155DE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13</a:t>
            </a:fld>
            <a:endParaRPr lang="el-GR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003051F4-3945-6A4B-BDF1-4A956071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1C60B37-0063-5D85-CCD1-FCCC8C34A1B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13</a:t>
            </a:fld>
            <a:endParaRPr lang="el-GR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1FDB057D-B1F6-DA1F-50A1-E2397922F697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22" name="Google Shape;66;p13">
            <a:extLst>
              <a:ext uri="{FF2B5EF4-FFF2-40B4-BE49-F238E27FC236}">
                <a16:creationId xmlns:a16="http://schemas.microsoft.com/office/drawing/2014/main" id="{ACCD4358-AC02-A162-9BA1-ED9431481B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1E9FBA2F-297C-CE14-C37A-A538ED477114}"/>
              </a:ext>
            </a:extLst>
          </p:cNvPr>
          <p:cNvSpPr/>
          <p:nvPr/>
        </p:nvSpPr>
        <p:spPr>
          <a:xfrm>
            <a:off x="0" y="912096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2B844-69FD-0417-8E4C-6237B699A603}"/>
              </a:ext>
            </a:extLst>
          </p:cNvPr>
          <p:cNvSpPr txBox="1"/>
          <p:nvPr/>
        </p:nvSpPr>
        <p:spPr>
          <a:xfrm>
            <a:off x="2130353" y="2008084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/>
              <a:t>5η τάξη</a:t>
            </a:r>
            <a:r>
              <a:rPr lang="en-US" b="1" dirty="0"/>
              <a:t> CFE</a:t>
            </a:r>
            <a:endParaRPr lang="el-G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CC027-0E07-7EDA-C38D-F875EBB74F44}"/>
              </a:ext>
            </a:extLst>
          </p:cNvPr>
          <p:cNvSpPr txBox="1"/>
          <p:nvPr/>
        </p:nvSpPr>
        <p:spPr>
          <a:xfrm>
            <a:off x="8289526" y="2008084"/>
            <a:ext cx="211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r>
              <a:rPr lang="el-GR" b="1" dirty="0"/>
              <a:t>η τάξη</a:t>
            </a:r>
            <a:r>
              <a:rPr lang="en-US" b="1" dirty="0"/>
              <a:t> Oustaloup</a:t>
            </a:r>
            <a:endParaRPr lang="el-GR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0EB432-2323-1218-F630-979864718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61" y="2405663"/>
            <a:ext cx="5335987" cy="36167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3D2D86-F74A-C6BB-CCD5-3FD6C58E1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752" y="2427721"/>
            <a:ext cx="5335987" cy="361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9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64B76-9AC6-D3AA-0090-7555D08E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B395D-ABE7-E52C-C671-CC07D4C2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4512"/>
          </a:xfrm>
        </p:spPr>
        <p:txBody>
          <a:bodyPr>
            <a:normAutofit/>
          </a:bodyPr>
          <a:lstStyle/>
          <a:p>
            <a:pPr algn="ctr"/>
            <a:r>
              <a:rPr lang="el-GR" sz="3200" dirty="0"/>
              <a:t>Διαφορές μεταξύ αλγορίθμων προσέγγισης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CC8E9-3C76-885C-3B4B-B0C413C1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14</a:t>
            </a:fld>
            <a:endParaRPr lang="el-GR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3B10E32-EEBC-1FBA-A782-6440336670C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14</a:t>
            </a:fld>
            <a:endParaRPr lang="el-GR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42AB3E1-605D-5D6B-F96A-233870887A8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14</a:t>
            </a:fld>
            <a:endParaRPr lang="el-GR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50E593D6-7B15-E5C8-D468-56C14839841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14</a:t>
            </a:fld>
            <a:endParaRPr lang="el-GR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7D71889-FBE9-D22C-A042-A3DCA6A7CF2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14</a:t>
            </a:fld>
            <a:endParaRPr lang="el-GR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2F30D2E2-4FFF-903A-1FEC-FC9200AC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5E4AB7AC-CD6E-A4A8-5612-CBFF3CF7505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14</a:t>
            </a:fld>
            <a:endParaRPr lang="el-GR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A145B510-1B0C-E258-BD3F-7455BECE17FA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22" name="Google Shape;66;p13">
            <a:extLst>
              <a:ext uri="{FF2B5EF4-FFF2-40B4-BE49-F238E27FC236}">
                <a16:creationId xmlns:a16="http://schemas.microsoft.com/office/drawing/2014/main" id="{1D9E31CE-D636-FD80-AE6B-82CDC73C60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hape 3">
            <a:extLst>
              <a:ext uri="{FF2B5EF4-FFF2-40B4-BE49-F238E27FC236}">
                <a16:creationId xmlns:a16="http://schemas.microsoft.com/office/drawing/2014/main" id="{41EA34C9-C347-BAE8-9CCF-7BDE65B74078}"/>
              </a:ext>
            </a:extLst>
          </p:cNvPr>
          <p:cNvSpPr/>
          <p:nvPr/>
        </p:nvSpPr>
        <p:spPr>
          <a:xfrm>
            <a:off x="0" y="912096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7800A-2146-503D-F26D-0793489DB097}"/>
              </a:ext>
            </a:extLst>
          </p:cNvPr>
          <p:cNvSpPr txBox="1"/>
          <p:nvPr/>
        </p:nvSpPr>
        <p:spPr>
          <a:xfrm>
            <a:off x="2130352" y="2070054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/>
              <a:t>10η τάξη</a:t>
            </a:r>
            <a:r>
              <a:rPr lang="en-US" b="1" dirty="0"/>
              <a:t> CFE</a:t>
            </a:r>
            <a:endParaRPr lang="el-G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BC2CF-9735-E22E-1C39-EEEEA1FFAF70}"/>
              </a:ext>
            </a:extLst>
          </p:cNvPr>
          <p:cNvSpPr txBox="1"/>
          <p:nvPr/>
        </p:nvSpPr>
        <p:spPr>
          <a:xfrm>
            <a:off x="8044898" y="2070054"/>
            <a:ext cx="2235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/>
              <a:t>10η τάξη</a:t>
            </a:r>
            <a:r>
              <a:rPr lang="en-US" b="1" dirty="0"/>
              <a:t> Oustaloup</a:t>
            </a:r>
            <a:endParaRPr lang="el-GR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FFD162-9344-5956-B311-B2EBFE49E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838" y="2439385"/>
            <a:ext cx="5335987" cy="36167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135D3D-D78B-3729-47DF-D121EA4A0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75" y="2439386"/>
            <a:ext cx="5335987" cy="361676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77D2DA0-98C1-D6E9-D7D1-638522360956}"/>
              </a:ext>
            </a:extLst>
          </p:cNvPr>
          <p:cNvSpPr txBox="1"/>
          <p:nvPr/>
        </p:nvSpPr>
        <p:spPr>
          <a:xfrm>
            <a:off x="3269745" y="1303950"/>
            <a:ext cx="5067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Μετά από ένα εύρος συχνοτήτων η </a:t>
            </a:r>
            <a:r>
              <a:rPr lang="en-US" dirty="0"/>
              <a:t>CFE </a:t>
            </a:r>
            <a:r>
              <a:rPr lang="el-GR" dirty="0"/>
              <a:t>αποκλίνει</a:t>
            </a:r>
          </a:p>
        </p:txBody>
      </p:sp>
    </p:spTree>
    <p:extLst>
      <p:ext uri="{BB962C8B-B14F-4D97-AF65-F5344CB8AC3E}">
        <p14:creationId xmlns:p14="http://schemas.microsoft.com/office/powerpoint/2010/main" val="733844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7BEE-7894-3374-7C3D-68A936172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4512"/>
          </a:xfrm>
        </p:spPr>
        <p:txBody>
          <a:bodyPr>
            <a:normAutofit/>
          </a:bodyPr>
          <a:lstStyle/>
          <a:p>
            <a:pPr algn="ctr"/>
            <a:r>
              <a:rPr lang="el-GR" sz="3200" dirty="0"/>
              <a:t>Μοντέλο Διεπαφής Ηλεκτροδίου–Ιστού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47BC526C-1B08-7828-77BC-AEA587E27F7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99638523"/>
              </p:ext>
            </p:extLst>
          </p:nvPr>
        </p:nvGraphicFramePr>
        <p:xfrm>
          <a:off x="5702710" y="2086396"/>
          <a:ext cx="6096000" cy="3958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6582839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489527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01150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08954769"/>
                    </a:ext>
                  </a:extLst>
                </a:gridCol>
              </a:tblGrid>
              <a:tr h="626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 dirty="0"/>
                        <a:t>Μέθοδος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dirty="0"/>
                        <a:t>Στοιχεία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dirty="0"/>
                        <a:t>Μέτρο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/>
                        <a:t>Φάση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165486"/>
                  </a:ext>
                </a:extLst>
              </a:tr>
              <a:tr h="845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 dirty="0"/>
                        <a:t>CFE–Cauer I, 6ης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dirty="0"/>
                        <a:t>14R–12C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dirty="0"/>
                        <a:t>~0.6%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dirty="0"/>
                        <a:t>~1.3%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784498"/>
                  </a:ext>
                </a:extLst>
              </a:tr>
              <a:tr h="1232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/>
                        <a:t>Oustaloup–Cauer I, 6ης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dirty="0"/>
                        <a:t>14R–12C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/>
                        <a:t>~2.3%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/>
                        <a:t>~6.1%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663649"/>
                  </a:ext>
                </a:extLst>
              </a:tr>
              <a:tr h="626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 dirty="0"/>
                        <a:t>TF2RC, 3ης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dirty="0"/>
                        <a:t>4R–3C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/>
                        <a:t>~7.8%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dirty="0"/>
                        <a:t>~11%</a:t>
                      </a:r>
                      <a:endParaRPr lang="en-US" sz="1600" dirty="0"/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15129"/>
                  </a:ext>
                </a:extLst>
              </a:tr>
              <a:tr h="626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TF2RC, 5</a:t>
                      </a:r>
                      <a:r>
                        <a:rPr lang="el-GR" sz="1600" dirty="0"/>
                        <a:t>ης</a:t>
                      </a:r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dirty="0"/>
                        <a:t>6R-5C</a:t>
                      </a:r>
                      <a:endParaRPr lang="el-GR" sz="1600" dirty="0"/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~2.3%</a:t>
                      </a:r>
                      <a:endParaRPr lang="el-GR" sz="1600" dirty="0"/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~2.1%</a:t>
                      </a:r>
                      <a:endParaRPr lang="en-US" sz="1600" dirty="0"/>
                    </a:p>
                  </a:txBody>
                  <a:tcPr marL="45057" marR="45057" marT="22529" marB="22529" anchor="ctr"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62382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9DA6B-767D-D90B-2D50-F74754AE0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15</a:t>
            </a:fld>
            <a:endParaRPr lang="el-G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3560A45-4848-E933-9DF7-F624CB93BD4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15</a:t>
            </a:fld>
            <a:endParaRPr lang="el-G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7327B41-C517-8343-6326-4D0E784F1EC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15</a:t>
            </a:fld>
            <a:endParaRPr lang="el-G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48457F-2278-6364-8B51-36854CC193E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15</a:t>
            </a:fld>
            <a:endParaRPr lang="el-GR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F76F50E-D1EA-3DF8-1F5F-740B3D2AD3E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15</a:t>
            </a:fld>
            <a:endParaRPr lang="el-G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8CE97C6-E206-43F6-CEE4-2EA1AE9B715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15</a:t>
            </a:fld>
            <a:endParaRPr lang="el-GR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9A1AA4-56BD-67AE-7A84-61112DC3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1CBB353-897E-82D5-7DF2-DDB7034F4B8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15</a:t>
            </a:fld>
            <a:endParaRPr lang="el-G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EBB9A80D-835C-5A80-3F4F-FCA8E1CC81AF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5" name="Google Shape;66;p13">
            <a:extLst>
              <a:ext uri="{FF2B5EF4-FFF2-40B4-BE49-F238E27FC236}">
                <a16:creationId xmlns:a16="http://schemas.microsoft.com/office/drawing/2014/main" id="{670384F7-5383-8CBD-8EB5-0A3FE31F58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01801171-CE7C-073F-5BAD-3BB142FCABBA}"/>
              </a:ext>
            </a:extLst>
          </p:cNvPr>
          <p:cNvSpPr/>
          <p:nvPr/>
        </p:nvSpPr>
        <p:spPr>
          <a:xfrm>
            <a:off x="0" y="909638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3596F1-4EA3-5D37-C69F-FDF0D88FDAE1}"/>
              </a:ext>
            </a:extLst>
          </p:cNvPr>
          <p:cNvSpPr txBox="1"/>
          <p:nvPr/>
        </p:nvSpPr>
        <p:spPr>
          <a:xfrm>
            <a:off x="3874585" y="1076745"/>
            <a:ext cx="85576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1600" dirty="0"/>
              <a:t>26 παθητικά στοιχεία → 7 παθητικά στοιχεία</a:t>
            </a:r>
            <a:br>
              <a:rPr lang="el-GR" sz="1600" dirty="0"/>
            </a:br>
            <a:r>
              <a:rPr lang="el-GR" sz="1200" dirty="0"/>
              <a:t>με αντίστοιχη αύξηση του σφάλματος</a:t>
            </a:r>
            <a:br>
              <a:rPr lang="el-GR" sz="1200" dirty="0"/>
            </a:br>
            <a:r>
              <a:rPr lang="en-US" sz="1600" dirty="0"/>
              <a:t>TF2RC</a:t>
            </a:r>
            <a:r>
              <a:rPr lang="el-GR" sz="1600" dirty="0"/>
              <a:t> 5</a:t>
            </a:r>
            <a:r>
              <a:rPr lang="el-GR" sz="1600" baseline="30000" dirty="0"/>
              <a:t>ης</a:t>
            </a:r>
            <a:r>
              <a:rPr lang="el-GR" sz="1600" dirty="0"/>
              <a:t> με </a:t>
            </a:r>
            <a:r>
              <a:rPr lang="en-US" sz="1600" dirty="0"/>
              <a:t>Oustaloup 6</a:t>
            </a:r>
            <a:r>
              <a:rPr lang="el-GR" sz="1600" baseline="30000" dirty="0"/>
              <a:t>ης</a:t>
            </a:r>
            <a:r>
              <a:rPr lang="el-GR" sz="1600" dirty="0"/>
              <a:t> ίδιο σφάλμα στο μέτρο παρά τα λιγότερα παθητικά στοιχεία</a:t>
            </a:r>
          </a:p>
          <a:p>
            <a:pPr algn="ctr"/>
            <a:endParaRPr lang="el-GR" sz="1600" dirty="0"/>
          </a:p>
        </p:txBody>
      </p:sp>
      <p:pic>
        <p:nvPicPr>
          <p:cNvPr id="21" name="image4.png">
            <a:extLst>
              <a:ext uri="{FF2B5EF4-FFF2-40B4-BE49-F238E27FC236}">
                <a16:creationId xmlns:a16="http://schemas.microsoft.com/office/drawing/2014/main" id="{D66BC365-E824-0CAD-E89A-BBA09DDAFDC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6981" y="2131685"/>
            <a:ext cx="5279921" cy="3833883"/>
          </a:xfrm>
          <a:prstGeom prst="rect">
            <a:avLst/>
          </a:prstGeom>
          <a:ln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79509F-C581-A6DC-3841-AE67BBAC27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17" y="1180063"/>
            <a:ext cx="3218064" cy="68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90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64BC-682B-8342-8D6D-CAECA239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5910"/>
          </a:xfrm>
        </p:spPr>
        <p:txBody>
          <a:bodyPr>
            <a:noAutofit/>
          </a:bodyPr>
          <a:lstStyle/>
          <a:p>
            <a:pPr algn="ctr"/>
            <a:r>
              <a:rPr lang="el-GR" sz="3200" dirty="0"/>
              <a:t>Μοντέλο Ρίζας–Βλαστού–Ηλεκτροδίου</a:t>
            </a:r>
            <a:br>
              <a:rPr lang="el-GR" sz="3200" dirty="0"/>
            </a:br>
            <a:r>
              <a:rPr lang="el-GR" sz="1600" dirty="0"/>
              <a:t>(</a:t>
            </a:r>
            <a:r>
              <a:rPr lang="el-GR" sz="1800" dirty="0" err="1"/>
              <a:t>Root</a:t>
            </a:r>
            <a:r>
              <a:rPr lang="el-GR" sz="1800" dirty="0"/>
              <a:t>–</a:t>
            </a:r>
            <a:r>
              <a:rPr lang="el-GR" sz="1800" dirty="0" err="1"/>
              <a:t>Stem</a:t>
            </a:r>
            <a:r>
              <a:rPr lang="el-GR" sz="1800" dirty="0"/>
              <a:t>–</a:t>
            </a:r>
            <a:r>
              <a:rPr lang="el-GR" sz="1800" dirty="0" err="1"/>
              <a:t>Electrode</a:t>
            </a:r>
            <a:r>
              <a:rPr lang="el-GR" sz="1800" dirty="0"/>
              <a:t> Model)</a:t>
            </a:r>
            <a:endParaRPr lang="el-GR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2FA4A-0BDF-8EE8-AFFC-6991FDA7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16</a:t>
            </a:fld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EEBA1-D71B-E86E-48EA-C2B04334B19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783CE8-F9B6-A93A-243E-61ECBA6C511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F341DE1-8DA6-61B4-D44C-BF456D9FDFA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75245A-13E5-0842-9E30-B285D5E1BDF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B672A05-2E98-5DBD-C276-73E4E107FF5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B77A706-C799-9F31-B017-0CA4F30B947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C94B729-B9F1-9E10-3E73-45AB3385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55EBF7-2F3D-E094-2705-6321FA56BA9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84150CE5-F727-D831-AE7C-AB4983CABF9F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5" name="Google Shape;66;p13">
            <a:extLst>
              <a:ext uri="{FF2B5EF4-FFF2-40B4-BE49-F238E27FC236}">
                <a16:creationId xmlns:a16="http://schemas.microsoft.com/office/drawing/2014/main" id="{87D293E8-DD05-DD17-4B01-6C9E4C5AA08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D441188C-6AED-AC10-A3A6-6FA56DA70A61}"/>
              </a:ext>
            </a:extLst>
          </p:cNvPr>
          <p:cNvSpPr/>
          <p:nvPr/>
        </p:nvSpPr>
        <p:spPr>
          <a:xfrm>
            <a:off x="0" y="825910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BFE118-BEDE-B4AD-7208-6CAD91BF3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037" y="1153571"/>
            <a:ext cx="5262563" cy="1381125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079AEF5-EC54-640C-9B0C-9B20B286D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972671"/>
              </p:ext>
            </p:extLst>
          </p:nvPr>
        </p:nvGraphicFramePr>
        <p:xfrm>
          <a:off x="838200" y="3264535"/>
          <a:ext cx="105156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154030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40100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04359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618786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Μέθοδος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Στοιχεία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dirty="0"/>
                        <a:t>Μέτρο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dirty="0"/>
                        <a:t>Φάση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339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Oustaloup–Cauer I, 6ης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24R–18C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~0.55%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~8.6%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1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TF2RC, 5ης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6R–5C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~2.0%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dirty="0"/>
                        <a:t>~8.5%</a:t>
                      </a:r>
                    </a:p>
                  </a:txBody>
                  <a:tcPr anchor="ctr">
                    <a:solidFill>
                      <a:schemeClr val="accent1">
                        <a:tint val="2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9641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073369E-394C-7882-FF74-61B0D5899428}"/>
              </a:ext>
            </a:extLst>
          </p:cNvPr>
          <p:cNvSpPr txBox="1"/>
          <p:nvPr/>
        </p:nvSpPr>
        <p:spPr>
          <a:xfrm>
            <a:off x="3043084" y="4919261"/>
            <a:ext cx="610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dirty="0"/>
              <a:t>42 → 11 παθητικά στοιχεία, με πρακτικά ίδιο μέγιστο σφάλμα φάσης</a:t>
            </a:r>
          </a:p>
        </p:txBody>
      </p:sp>
    </p:spTree>
    <p:extLst>
      <p:ext uri="{BB962C8B-B14F-4D97-AF65-F5344CB8AC3E}">
        <p14:creationId xmlns:p14="http://schemas.microsoft.com/office/powerpoint/2010/main" val="3952633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C62D-AF45-7626-714D-855DABD4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1288"/>
          </a:xfrm>
        </p:spPr>
        <p:txBody>
          <a:bodyPr>
            <a:noAutofit/>
          </a:bodyPr>
          <a:lstStyle/>
          <a:p>
            <a:pPr algn="ctr"/>
            <a:r>
              <a:rPr lang="el-GR" sz="3200" dirty="0"/>
              <a:t>Ενεργή υλοποίηση OTA-C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7502-E39C-F4C6-1323-0A20E9319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1896" y="5441545"/>
            <a:ext cx="4208205" cy="6029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l-GR" sz="1600" dirty="0"/>
              <a:t>Πλεονέκτημα: ηλεκτρονική ρύθμιση μέσω της διαγωγιμότητας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4585A-7C04-573A-C357-4DF9C9B8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17</a:t>
            </a:fld>
            <a:endParaRPr lang="el-GR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DE16E9D-6BCC-C6D9-5967-CEFDF3726E2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A6FD4D9-5732-41C8-29A3-1894B24AB81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F7DDEBD-58D5-78E3-172B-7827C2E396F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473D24A-C4B8-4886-F23C-AFC288975E9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4DFA11-E0FD-C344-6A66-4FC0A88514C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2DA220-FAD2-014E-DE41-E9E09DDF22B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493B6258-9854-2464-DDA8-EF352856830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7F0C31C-B8F5-3CA6-B5CF-96DDF8848D1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9F10B5A-71E2-CE6E-C1C6-3E978E7D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29BA0DD-0D73-57CD-55C4-C28C066B2D6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ACE16C1-EF2C-1F2F-CAA0-6812C4018634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7" name="Google Shape;66;p13">
            <a:extLst>
              <a:ext uri="{FF2B5EF4-FFF2-40B4-BE49-F238E27FC236}">
                <a16:creationId xmlns:a16="http://schemas.microsoft.com/office/drawing/2014/main" id="{70227131-C44A-FB01-0C16-63A49FAFF4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18E55E8-04FF-2B97-6316-A86BB6898FFE}"/>
                  </a:ext>
                </a:extLst>
              </p:cNvPr>
              <p:cNvSpPr txBox="1"/>
              <p:nvPr/>
            </p:nvSpPr>
            <p:spPr>
              <a:xfrm>
                <a:off x="2930309" y="1643321"/>
                <a:ext cx="6331381" cy="3477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l-GR" sz="2000" dirty="0"/>
                  <a:t>Οι αντιστάσεις αντικαθίστανται από κατάλληλες διαγωγιμότητες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br>
                  <a:rPr lang="el-GR" sz="2000" dirty="0"/>
                </a:br>
                <a:r>
                  <a:rPr lang="el-GR" sz="2000" dirty="0"/>
                  <a:t>Οι χρονικές σταθερές που υπολογίσαμε πλέον καθορίζονται από τον λόγο </a:t>
                </a:r>
                <a14:m>
                  <m:oMath xmlns:m="http://schemas.openxmlformats.org/officeDocument/2006/math"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l-GR" sz="2000" i="0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l-G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l-GR" sz="2000" dirty="0"/>
              </a:p>
              <a:p>
                <a:pPr algn="ctr"/>
                <a:endParaRPr lang="el-GR" sz="2000" dirty="0"/>
              </a:p>
              <a:p>
                <a:pPr algn="ctr"/>
                <a:r>
                  <a:rPr lang="el-GR" sz="2000" dirty="0"/>
                  <a:t>Για την προσέγγιση 3</a:t>
                </a:r>
                <a:r>
                  <a:rPr lang="el-GR" sz="2000" baseline="30000" dirty="0"/>
                  <a:t>η</a:t>
                </a:r>
                <a:r>
                  <a:rPr lang="el-GR" sz="2000" dirty="0"/>
                  <a:t> τάξης του Μοντέλο Διεπαφής Ηλεκτροδίου–Ιστού</a:t>
                </a:r>
                <a:br>
                  <a:rPr lang="el-GR" sz="2000" dirty="0"/>
                </a:br>
                <a:r>
                  <a:rPr lang="el-GR" sz="2000" dirty="0"/>
                  <a:t>3 ολοκληρωτικές βαθμίδες OTA-C</a:t>
                </a:r>
                <a:br>
                  <a:rPr lang="el-GR" sz="2000" dirty="0"/>
                </a:br>
                <a:r>
                  <a:rPr lang="el-GR" sz="2000" dirty="0"/>
                  <a:t>3 ίσοι γειωμένοι πυκνωτές</a:t>
                </a:r>
                <a:br>
                  <a:rPr lang="el-GR" sz="2000" dirty="0"/>
                </a:br>
                <a:endParaRPr lang="el-GR" sz="2000" dirty="0"/>
              </a:p>
              <a:p>
                <a:pPr algn="ctr"/>
                <a:r>
                  <a:rPr lang="el-GR" sz="2000" dirty="0"/>
                  <a:t>Συνολικά 13 ιδανικά OTAs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18E55E8-04FF-2B97-6316-A86BB6898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309" y="1643321"/>
                <a:ext cx="6331381" cy="3477875"/>
              </a:xfrm>
              <a:prstGeom prst="rect">
                <a:avLst/>
              </a:prstGeom>
              <a:blipFill>
                <a:blip r:embed="rId3"/>
                <a:stretch>
                  <a:fillRect t="-1053" b="-2281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3">
            <a:extLst>
              <a:ext uri="{FF2B5EF4-FFF2-40B4-BE49-F238E27FC236}">
                <a16:creationId xmlns:a16="http://schemas.microsoft.com/office/drawing/2014/main" id="{CFCA9213-10EF-5710-DE81-FBCCFDF95B90}"/>
              </a:ext>
            </a:extLst>
          </p:cNvPr>
          <p:cNvSpPr/>
          <p:nvPr/>
        </p:nvSpPr>
        <p:spPr>
          <a:xfrm>
            <a:off x="0" y="798871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713D36-E827-E2D7-B065-146732DE1E9F}"/>
                  </a:ext>
                </a:extLst>
              </p:cNvPr>
              <p:cNvSpPr txBox="1"/>
              <p:nvPr/>
            </p:nvSpPr>
            <p:spPr>
              <a:xfrm>
                <a:off x="9473381" y="1643321"/>
                <a:ext cx="2000865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l-GR" i="0">
                          <a:latin typeface="Cambria Math" panose="02040503050406030204" pitchFamily="18" charset="0"/>
                        </a:rPr>
                        <m:t>∼</m:t>
                      </m:r>
                      <m:f>
                        <m:fPr>
                          <m:ctrlPr>
                            <a:rPr lang="el-GR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l-GR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713D36-E827-E2D7-B065-146732DE1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381" y="1643321"/>
                <a:ext cx="2000865" cy="6613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009733-D48A-8894-EA89-467B5E1F4CD5}"/>
                  </a:ext>
                </a:extLst>
              </p:cNvPr>
              <p:cNvSpPr txBox="1"/>
              <p:nvPr/>
            </p:nvSpPr>
            <p:spPr>
              <a:xfrm>
                <a:off x="9886335" y="2576859"/>
                <a:ext cx="1174955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l-GR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l-G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l-G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009733-D48A-8894-EA89-467B5E1F4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6335" y="2576859"/>
                <a:ext cx="1174955" cy="661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CEA3FCB-D73F-310C-02FD-C8CD4371A957}"/>
              </a:ext>
            </a:extLst>
          </p:cNvPr>
          <p:cNvSpPr txBox="1"/>
          <p:nvPr/>
        </p:nvSpPr>
        <p:spPr>
          <a:xfrm>
            <a:off x="396876" y="1112668"/>
            <a:ext cx="4400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ΟΤΑ: Τελεστικός ενισχυτής διαγωγιμότητας</a:t>
            </a:r>
          </a:p>
        </p:txBody>
      </p:sp>
    </p:spTree>
    <p:extLst>
      <p:ext uri="{BB962C8B-B14F-4D97-AF65-F5344CB8AC3E}">
        <p14:creationId xmlns:p14="http://schemas.microsoft.com/office/powerpoint/2010/main" val="18501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4F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42.png">
            <a:extLst>
              <a:ext uri="{FF2B5EF4-FFF2-40B4-BE49-F238E27FC236}">
                <a16:creationId xmlns:a16="http://schemas.microsoft.com/office/drawing/2014/main" id="{9CC5B722-700A-3202-E8EA-9301B7AAF91E}"/>
              </a:ext>
            </a:extLst>
          </p:cNvPr>
          <p:cNvPicPr/>
          <p:nvPr/>
        </p:nvPicPr>
        <p:blipFill>
          <a:blip r:embed="rId3"/>
          <a:srcRect l="1878"/>
          <a:stretch>
            <a:fillRect/>
          </a:stretch>
        </p:blipFill>
        <p:spPr>
          <a:xfrm>
            <a:off x="543563" y="1178640"/>
            <a:ext cx="11104874" cy="447913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930FF8-4E27-7866-12E8-49ACEEE4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l-GR">
                <a:solidFill>
                  <a:srgbClr val="FFFFFF"/>
                </a:solidFill>
              </a:rPr>
              <a:t>Δημήτριος Γώγος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D4BEEC-949B-77C5-943C-3251DC4D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BF7C9E3-788B-4E47-B1D3-1B3CE549EFAE}" type="slidenum">
              <a:rPr lang="el-GR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18</a:t>
            </a:fld>
            <a:endParaRPr lang="el-GR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0D5F4-C92F-A7C5-C295-A7136CDFD59D}"/>
              </a:ext>
            </a:extLst>
          </p:cNvPr>
          <p:cNvSpPr txBox="1"/>
          <p:nvPr/>
        </p:nvSpPr>
        <p:spPr>
          <a:xfrm>
            <a:off x="4304676" y="547655"/>
            <a:ext cx="3582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Τελική OTA-C υλοποίηση 3ης τάξης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1B894-A86B-E7E5-BC8F-E7D09C8E278B}"/>
              </a:ext>
            </a:extLst>
          </p:cNvPr>
          <p:cNvSpPr txBox="1"/>
          <p:nvPr/>
        </p:nvSpPr>
        <p:spPr>
          <a:xfrm>
            <a:off x="2812026" y="5892205"/>
            <a:ext cx="6454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/>
              <a:t>3 ολοκληρωτικές βαθμίδες</a:t>
            </a:r>
            <a:r>
              <a:rPr lang="el-GR" dirty="0"/>
              <a:t>, </a:t>
            </a:r>
            <a:r>
              <a:rPr lang="el-GR" b="1" dirty="0"/>
              <a:t>3 γειωμένοι πυκνωτές</a:t>
            </a:r>
            <a:r>
              <a:rPr lang="el-GR" dirty="0"/>
              <a:t>, </a:t>
            </a:r>
            <a:r>
              <a:rPr lang="el-GR" b="1" dirty="0"/>
              <a:t>13 OTAs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5709647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7983-4234-4857-31AC-4835FC46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9945"/>
          </a:xfrm>
        </p:spPr>
        <p:txBody>
          <a:bodyPr>
            <a:noAutofit/>
          </a:bodyPr>
          <a:lstStyle/>
          <a:p>
            <a:pPr algn="ctr"/>
            <a:r>
              <a:rPr lang="el-GR" sz="3200" dirty="0"/>
              <a:t>Επαλήθευση της ενεργής υλοποίησης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E6FD6-FDC8-6864-8782-EB434F359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08" y="1933781"/>
            <a:ext cx="5277465" cy="1360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1600" dirty="0"/>
              <a:t>Συγκρίθηκαν:</a:t>
            </a:r>
            <a:br>
              <a:rPr lang="el-GR" sz="1600" dirty="0"/>
            </a:br>
            <a:r>
              <a:rPr lang="el-GR" sz="1600" dirty="0"/>
              <a:t>• Ιδανικό κλασματικό μοντέλο</a:t>
            </a:r>
            <a:br>
              <a:rPr lang="el-GR" sz="1600" dirty="0"/>
            </a:br>
            <a:r>
              <a:rPr lang="el-GR" sz="1600" dirty="0"/>
              <a:t>• Τελική OTA-C υλοποίηση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l-GR" sz="1600" dirty="0"/>
              <a:t>Η OTA-C δομή ακολουθεί τη ρητή προσέγγιση 3ης τάξης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ED5B8-8458-1AE3-D0EE-DCB06071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19</a:t>
            </a:fld>
            <a:endParaRPr lang="el-GR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8245D66-6D14-FD7F-1644-1BF5CC3585C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81C8AE8-3BD7-769B-AA99-C8982816883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4099C-A978-FB67-EA86-260786D5AA0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81B2F1-DE14-B07B-1568-754DB9B5CD3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36F034-5FE7-848E-A7F3-67F81A19E52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6D2F6B5-36E1-F9E2-1A00-EB536DEFDFF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4FDA113-460B-6A0F-DFBE-D945201F793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FC6F0DCB-24F4-60BF-CC23-0E95A87D1F9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000B3B8-D9EC-55F2-CA48-96A0AD747C9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71DB10B-2D79-247A-DA8E-1FEEC138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F5843C9-419F-29CD-0AC9-FA12127F1D5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19</a:t>
            </a:fld>
            <a:endParaRPr lang="el-GR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B7728CEE-235C-0C78-4AC2-F3DB64ACE706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18" name="Google Shape;66;p13">
            <a:extLst>
              <a:ext uri="{FF2B5EF4-FFF2-40B4-BE49-F238E27FC236}">
                <a16:creationId xmlns:a16="http://schemas.microsoft.com/office/drawing/2014/main" id="{242DD1E1-76B5-393B-4305-CCB01E9D07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Shape 3">
            <a:extLst>
              <a:ext uri="{FF2B5EF4-FFF2-40B4-BE49-F238E27FC236}">
                <a16:creationId xmlns:a16="http://schemas.microsoft.com/office/drawing/2014/main" id="{0CC8D8A1-834E-F877-E7A8-7DA6FF3CA92A}"/>
              </a:ext>
            </a:extLst>
          </p:cNvPr>
          <p:cNvSpPr/>
          <p:nvPr/>
        </p:nvSpPr>
        <p:spPr>
          <a:xfrm>
            <a:off x="0" y="877528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E3645D-E5D0-3B87-8D4A-9D1D2C816DC7}"/>
              </a:ext>
            </a:extLst>
          </p:cNvPr>
          <p:cNvSpPr txBox="1"/>
          <p:nvPr/>
        </p:nvSpPr>
        <p:spPr>
          <a:xfrm>
            <a:off x="-9832" y="5516896"/>
            <a:ext cx="6105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400" dirty="0"/>
              <a:t>Η κύρια απόκλιση από το ιδανικό μοντέλο οφείλεται στην ίδια την προσέγγιση χαμηλής τάξης και όχι στα ιδανικά OTAs</a:t>
            </a:r>
          </a:p>
        </p:txBody>
      </p:sp>
      <p:pic>
        <p:nvPicPr>
          <p:cNvPr id="23" name="image60.png">
            <a:extLst>
              <a:ext uri="{FF2B5EF4-FFF2-40B4-BE49-F238E27FC236}">
                <a16:creationId xmlns:a16="http://schemas.microsoft.com/office/drawing/2014/main" id="{162ABDE5-229F-1D0C-5AB0-88FC5D88F1E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417573" y="1108380"/>
            <a:ext cx="6429375" cy="417766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4270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7C01E-A27A-241D-BA10-DA8CE1CD3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86581"/>
            <a:ext cx="5181600" cy="3290068"/>
          </a:xfrm>
        </p:spPr>
        <p:txBody>
          <a:bodyPr/>
          <a:lstStyle/>
          <a:p>
            <a:pPr marL="0" indent="0" algn="ctr">
              <a:buNone/>
            </a:pPr>
            <a:r>
              <a:rPr lang="el-GR" dirty="0"/>
              <a:t>Συμπεράσματα</a:t>
            </a:r>
          </a:p>
          <a:p>
            <a:pPr marL="0" indent="0" algn="ctr">
              <a:buNone/>
            </a:pPr>
            <a:r>
              <a:rPr lang="el-GR" sz="1600" dirty="0"/>
              <a:t>• Δεν υπάρχει μία βέλτιστη μέθοδος για όλα τα μοντέλα</a:t>
            </a:r>
            <a:br>
              <a:rPr lang="el-GR" sz="1600" dirty="0"/>
            </a:br>
            <a:r>
              <a:rPr lang="el-GR" sz="1600" dirty="0"/>
              <a:t>• Η υψηλότερη τάξη συνήθως αυξάνει την ακρίβεια αλλά και την πολυπλοκότητα</a:t>
            </a:r>
            <a:br>
              <a:rPr lang="el-GR" sz="1600" dirty="0"/>
            </a:br>
            <a:r>
              <a:rPr lang="el-GR" sz="1600" dirty="0"/>
              <a:t>• Η Oustaloup είχε ιδιαίτερα καλή συμπεριφορά στα μοντέλα Cole, Η </a:t>
            </a:r>
            <a:r>
              <a:rPr lang="en-US" sz="1600" dirty="0"/>
              <a:t>CFE </a:t>
            </a:r>
            <a:r>
              <a:rPr lang="el-GR" sz="1600" dirty="0"/>
              <a:t>σε μοντέλα που κινούνται γύρω από συγκεκριμένη φάση </a:t>
            </a:r>
            <a:br>
              <a:rPr lang="el-GR" sz="1600" dirty="0"/>
            </a:br>
            <a:r>
              <a:rPr lang="el-GR" sz="1600" dirty="0"/>
              <a:t>• Η TF2RC μπορεί να μειώσει σημαντικά τον αριθμό των στοιχείων (Στο </a:t>
            </a:r>
            <a:r>
              <a:rPr lang="el-GR" sz="1600" dirty="0" err="1"/>
              <a:t>Root</a:t>
            </a:r>
            <a:r>
              <a:rPr lang="el-GR" sz="1600" dirty="0"/>
              <a:t>–</a:t>
            </a:r>
            <a:r>
              <a:rPr lang="el-GR" sz="1600" dirty="0" err="1"/>
              <a:t>Stem</a:t>
            </a:r>
            <a:r>
              <a:rPr lang="el-GR" sz="1600" dirty="0"/>
              <a:t>–</a:t>
            </a:r>
            <a:r>
              <a:rPr lang="el-GR" sz="1600" dirty="0" err="1"/>
              <a:t>Electrode</a:t>
            </a:r>
            <a:r>
              <a:rPr lang="el-GR" sz="1600" dirty="0"/>
              <a:t>: 42 → 11 παθητικά στοιχεία, με </a:t>
            </a:r>
            <a:r>
              <a:rPr lang="el-GR" sz="1600" dirty="0" err="1"/>
              <a:t>phase</a:t>
            </a:r>
            <a:r>
              <a:rPr lang="el-GR" sz="1600" dirty="0"/>
              <a:t> </a:t>
            </a:r>
            <a:r>
              <a:rPr lang="el-GR" sz="1600" dirty="0" err="1"/>
              <a:t>error</a:t>
            </a:r>
            <a:r>
              <a:rPr lang="el-GR" sz="1600" dirty="0"/>
              <a:t> ~8.6% → ~8.5%)</a:t>
            </a:r>
            <a:br>
              <a:rPr lang="el-GR" sz="1600" dirty="0"/>
            </a:br>
            <a:r>
              <a:rPr lang="el-GR" sz="1600" dirty="0"/>
              <a:t>• Η ενεργή OTA-C υλοποίηση απέδειξε τη δυνατότητα μετάβασης από παθητικό σε ενεργό κύκλωμα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B0418C-C204-80D6-FA1E-11E07AC49BD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9576" y="786581"/>
                <a:ext cx="5181600" cy="2753032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l-GR" dirty="0"/>
                  <a:t>Μελλοντική έρευνα</a:t>
                </a:r>
              </a:p>
              <a:p>
                <a:pPr marL="0" indent="0" algn="ctr">
                  <a:buNone/>
                </a:pPr>
                <a:r>
                  <a:rPr lang="el-GR" sz="1600" dirty="0"/>
                  <a:t>• Πλήρης υλοποίηση των 13 OTAs σε CMOS 130 </a:t>
                </a:r>
                <a:r>
                  <a:rPr lang="el-GR" sz="1600" dirty="0" err="1"/>
                  <a:t>nm</a:t>
                </a:r>
                <a:br>
                  <a:rPr lang="el-GR" sz="1600" dirty="0"/>
                </a:br>
                <a:r>
                  <a:rPr lang="el-GR" sz="1600" dirty="0"/>
                  <a:t>• Χαρακτηρισμός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l-GR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l-GR" sz="1600" dirty="0"/>
                  <a:t>ως προς το ρεύμα πόλωσης το οποίο αν το αλλάζουμε μπορούμε να πετύχουμε με το ίδιο κύκλωμα διαφορετικές προσεγγίσεις </a:t>
                </a:r>
                <a:br>
                  <a:rPr lang="el-GR" sz="1600" dirty="0"/>
                </a:br>
                <a:r>
                  <a:rPr lang="el-GR" sz="1600" dirty="0"/>
                  <a:t>• Περαιτέρω πειραματική υλοποίηση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B0418C-C204-80D6-FA1E-11E07AC49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9576" y="786581"/>
                <a:ext cx="5181600" cy="2753032"/>
              </a:xfrm>
              <a:blipFill>
                <a:blip r:embed="rId2"/>
                <a:stretch>
                  <a:fillRect l="-588" t="-3761" r="-1412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5FE9C-04DB-F4EC-EA2D-78D52D15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20</a:t>
            </a:fld>
            <a:endParaRPr lang="el-GR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188CFCF-7CF3-CD34-065B-6AB15BCD9AF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6D3FAB4-4666-BA6C-F92B-E3A5E0A1FCF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B012236-BFF0-C499-3B8F-AF40D630EB8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889812D-DC16-9F4E-B150-679A80838CD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D2DE74D-C7C2-FE26-BA5B-1839EF6205F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BFE2C5B-27D2-96FA-0C86-E792C7C24B3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F78113B-0CBB-B38E-C8EC-1DA9A1299C8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5D991DF-04A6-A8D3-30F6-0DB1270185B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99591771-365D-CC17-8BD0-65A4387584F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7190134-CA74-BFF8-85B1-EFF5A8E54D6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E715FE43-4FCE-4A54-0982-BA93F1B9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01593"/>
            <a:ext cx="4114800" cy="674637"/>
          </a:xfrm>
        </p:spPr>
        <p:txBody>
          <a:bodyPr/>
          <a:lstStyle/>
          <a:p>
            <a:r>
              <a:rPr lang="el-GR" dirty="0"/>
              <a:t>Δημήτριος Γώγος </a:t>
            </a:r>
            <a:br>
              <a:rPr lang="el-GR" dirty="0"/>
            </a:br>
            <a:r>
              <a:rPr lang="el-GR" dirty="0"/>
              <a:t>Προσομοίωση μοντέλων βιοεμπέδησης κλασματικής τάξης</a:t>
            </a:r>
            <a:br>
              <a:rPr lang="el-GR" dirty="0"/>
            </a:br>
            <a:endParaRPr lang="el-GR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3F0B60C-BB74-7C75-278F-E02C76AF676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BF7C9E3-788B-4E47-B1D3-1B3CE549EFAE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9C6E07E-893A-4018-B781-EFD95F667259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pic>
        <p:nvPicPr>
          <p:cNvPr id="20" name="Google Shape;66;p13">
            <a:extLst>
              <a:ext uri="{FF2B5EF4-FFF2-40B4-BE49-F238E27FC236}">
                <a16:creationId xmlns:a16="http://schemas.microsoft.com/office/drawing/2014/main" id="{3A9E0C39-30C5-7CD0-0113-74F8AD6236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hape 3">
            <a:extLst>
              <a:ext uri="{FF2B5EF4-FFF2-40B4-BE49-F238E27FC236}">
                <a16:creationId xmlns:a16="http://schemas.microsoft.com/office/drawing/2014/main" id="{BF72D537-25DF-707F-037E-165889CC6483}"/>
              </a:ext>
            </a:extLst>
          </p:cNvPr>
          <p:cNvSpPr/>
          <p:nvPr/>
        </p:nvSpPr>
        <p:spPr>
          <a:xfrm>
            <a:off x="0" y="1231490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27622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EB41-7B2A-6E02-5A15-721654648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78269"/>
          </a:xfrm>
        </p:spPr>
        <p:txBody>
          <a:bodyPr/>
          <a:lstStyle/>
          <a:p>
            <a:r>
              <a:rPr lang="el-GR" dirty="0"/>
              <a:t>Σας ευχαριστώ!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0A83E-A9B2-76DF-0457-988337ECF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7368"/>
            <a:ext cx="9144000" cy="1000432"/>
          </a:xfrm>
        </p:spPr>
        <p:txBody>
          <a:bodyPr/>
          <a:lstStyle/>
          <a:p>
            <a:r>
              <a:rPr lang="el-GR" dirty="0"/>
              <a:t>Ερωτήσεις;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41EC7-2275-1CBD-2CE5-A3264A4CA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Δημήτριος Γώγος </a:t>
            </a:r>
            <a:endParaRPr lang="el-G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06D8-D45C-8DE6-70C3-2FB680875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7C9E3-788B-4E47-B1D3-1B3CE549EFAE}" type="slidenum">
              <a:rPr lang="el-GR" smtClean="0"/>
              <a:t>21</a:t>
            </a:fld>
            <a:endParaRPr lang="el-GR"/>
          </a:p>
        </p:txBody>
      </p:sp>
      <p:pic>
        <p:nvPicPr>
          <p:cNvPr id="7" name="Google Shape;66;p13">
            <a:extLst>
              <a:ext uri="{FF2B5EF4-FFF2-40B4-BE49-F238E27FC236}">
                <a16:creationId xmlns:a16="http://schemas.microsoft.com/office/drawing/2014/main" id="{76D81A78-A612-E3BE-DF01-8B51054BC29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163984"/>
            <a:ext cx="793750" cy="689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9;p13">
            <a:extLst>
              <a:ext uri="{FF2B5EF4-FFF2-40B4-BE49-F238E27FC236}">
                <a16:creationId xmlns:a16="http://schemas.microsoft.com/office/drawing/2014/main" id="{4AC98B72-AC3D-D7B3-80EE-189825846627}"/>
              </a:ext>
            </a:extLst>
          </p:cNvPr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75324" y="6155617"/>
            <a:ext cx="1625958" cy="698082"/>
          </a:xfrm>
          <a:prstGeom prst="rect">
            <a:avLst/>
          </a:prstGeom>
          <a:noFill/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4DE5C994-5AE1-ABBE-FD74-CA6E4E40B041}"/>
              </a:ext>
            </a:extLst>
          </p:cNvPr>
          <p:cNvSpPr/>
          <p:nvPr/>
        </p:nvSpPr>
        <p:spPr>
          <a:xfrm>
            <a:off x="0" y="6123039"/>
            <a:ext cx="12192000" cy="0"/>
          </a:xfrm>
          <a:prstGeom prst="line">
            <a:avLst/>
          </a:prstGeom>
          <a:noFill/>
          <a:ln w="25400">
            <a:solidFill>
              <a:srgbClr val="24B3A7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09191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1259</Words>
  <Application>Microsoft Office PowerPoint</Application>
  <PresentationFormat>Widescreen</PresentationFormat>
  <Paragraphs>269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Times New Roman</vt:lpstr>
      <vt:lpstr>Office Theme</vt:lpstr>
      <vt:lpstr>Προσομοίωση μοντέλων βιοεμπέδησης κλασματικής τάξης</vt:lpstr>
      <vt:lpstr>Αντικείμενο και βασικός στόχος</vt:lpstr>
      <vt:lpstr>Στοιχεία κλασματικής τάξης και CPE</vt:lpstr>
      <vt:lpstr>Από το ιδανικό CPE σε πραγματικό κύκλωμα</vt:lpstr>
      <vt:lpstr>CFE και Oustaloup</vt:lpstr>
      <vt:lpstr>Κυκλωματικές τοπολογίες</vt:lpstr>
      <vt:lpstr>Μοντέλα βιοεμπέδησης</vt:lpstr>
      <vt:lpstr>PowerPoint Presentation</vt:lpstr>
      <vt:lpstr>CPE2RC vs TF2RC</vt:lpstr>
      <vt:lpstr>Παράδειγμα συνολικής προσέγγισης</vt:lpstr>
      <vt:lpstr>Μεθοδολογία προσομοίωσης</vt:lpstr>
      <vt:lpstr>Επίδραση της τάξης προσέγγισης</vt:lpstr>
      <vt:lpstr>Διαφορές μεταξύ αλγορίθμων προσέγγισης</vt:lpstr>
      <vt:lpstr>Διαφορές μεταξύ αλγορίθμων προσέγγισης</vt:lpstr>
      <vt:lpstr>Μοντέλο Διεπαφής Ηλεκτροδίου–Ιστού</vt:lpstr>
      <vt:lpstr>Μοντέλο Ρίζας–Βλαστού–Ηλεκτροδίου (Root–Stem–Electrode Model)</vt:lpstr>
      <vt:lpstr>Ενεργή υλοποίηση OTA-C</vt:lpstr>
      <vt:lpstr>PowerPoint Presentation</vt:lpstr>
      <vt:lpstr>Επαλήθευση της ενεργής υλοποίησης</vt:lpstr>
      <vt:lpstr>PowerPoint Presentation</vt:lpstr>
      <vt:lpstr>Σας ευχαριστώ!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DIMITRIOS GOGOS</dc:creator>
  <cp:lastModifiedBy>DIMITRIOS GOGOS</cp:lastModifiedBy>
  <cp:revision>47</cp:revision>
  <dcterms:created xsi:type="dcterms:W3CDTF">2026-10-05T00:29:29Z</dcterms:created>
  <dcterms:modified xsi:type="dcterms:W3CDTF">2026-10-07T12:09:50Z</dcterms:modified>
</cp:coreProperties>
</file>